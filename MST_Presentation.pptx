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1.xml.rels" ContentType="application/vnd.openxmlformats-package.relationships+xml"/>
  <Override PartName="/ppt/slideMasters/_rels/slideMaster5.xml.rels" ContentType="application/vnd.openxmlformats-package.relationships+xml"/>
  <Override PartName="/ppt/slideMasters/_rels/slideMaster10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9.xml.rels" ContentType="application/vnd.openxmlformats-package.relationships+xml"/>
  <Override PartName="/ppt/slideMasters/_rels/slideMaster8.xml.rels" ContentType="application/vnd.openxmlformats-package.relationships+xml"/>
  <Override PartName="/ppt/slideMasters/_rels/slideMaster7.xml.rels" ContentType="application/vnd.openxmlformats-package.relationships+xml"/>
  <Override PartName="/ppt/slideMasters/_rels/slideMaster6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theme/theme1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ppt/slideLayouts/_rels/slideLayout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7.xml.rels" ContentType="application/vnd.openxmlformats-package.relationships+xml"/>
  <Override PartName="/ppt/slides/_rels/slide6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9.xml.rels" ContentType="application/vnd.openxmlformats-package.relationships+xml"/>
  <Override PartName="/ppt/slides/_rels/slide11.xml.rels" ContentType="application/vnd.openxmlformats-package.relationships+xml"/>
  <Override PartName="/ppt/slides/_rels/slide14.xml.rels" ContentType="application/vnd.openxmlformats-package.relationships+xml"/>
  <Override PartName="/ppt/slides/_rels/slide15.xml.rels" ContentType="application/vnd.openxmlformats-package.relationships+xml"/>
  <Override PartName="/ppt/slides/_rels/slide1.xml.rels" ContentType="application/vnd.openxmlformats-package.relationships+xml"/>
  <Override PartName="/ppt/slides/_rels/slide16.xml.rels" ContentType="application/vnd.openxmlformats-package.relationships+xml"/>
  <Override PartName="/ppt/slides/_rels/slide2.xml.rels" ContentType="application/vnd.openxmlformats-package.relationships+xml"/>
  <Override PartName="/ppt/slides/_rels/slide17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13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1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8.png" ContentType="image/png"/>
  <Override PartName="/ppt/media/image9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0" r:id="rId3"/>
    <p:sldMasterId id="2147483652" r:id="rId4"/>
    <p:sldMasterId id="2147483654" r:id="rId5"/>
    <p:sldMasterId id="2147483656" r:id="rId6"/>
    <p:sldMasterId id="2147483658" r:id="rId7"/>
    <p:sldMasterId id="2147483660" r:id="rId8"/>
    <p:sldMasterId id="2147483662" r:id="rId9"/>
    <p:sldMasterId id="2147483664" r:id="rId10"/>
    <p:sldMasterId id="2147483666" r:id="rId11"/>
    <p:sldMasterId id="2147483668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  <p:sldId id="267" r:id="rId24"/>
    <p:sldId id="268" r:id="rId25"/>
    <p:sldId id="269" r:id="rId26"/>
    <p:sldId id="270" r:id="rId27"/>
    <p:sldId id="271" r:id="rId28"/>
    <p:sldId id="272" r:id="rId29"/>
  </p:sldIdLst>
  <p:sldSz cx="12192000" cy="6858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Master" Target="slideMasters/slideMaster6.xml"/><Relationship Id="rId8" Type="http://schemas.openxmlformats.org/officeDocument/2006/relationships/slideMaster" Target="slideMasters/slideMaster7.xml"/><Relationship Id="rId9" Type="http://schemas.openxmlformats.org/officeDocument/2006/relationships/slideMaster" Target="slideMasters/slideMaster8.xml"/><Relationship Id="rId10" Type="http://schemas.openxmlformats.org/officeDocument/2006/relationships/slideMaster" Target="slideMasters/slideMaster9.xml"/><Relationship Id="rId11" Type="http://schemas.openxmlformats.org/officeDocument/2006/relationships/slideMaster" Target="slideMasters/slideMaster10.xml"/><Relationship Id="rId12" Type="http://schemas.openxmlformats.org/officeDocument/2006/relationships/slideMaster" Target="slideMasters/slideMaster1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Relationship Id="rId19" Type="http://schemas.openxmlformats.org/officeDocument/2006/relationships/slide" Target="slides/slide7.xml"/><Relationship Id="rId20" Type="http://schemas.openxmlformats.org/officeDocument/2006/relationships/slide" Target="slides/slide8.xml"/><Relationship Id="rId21" Type="http://schemas.openxmlformats.org/officeDocument/2006/relationships/slide" Target="slides/slide9.xml"/><Relationship Id="rId22" Type="http://schemas.openxmlformats.org/officeDocument/2006/relationships/slide" Target="slides/slide10.xml"/><Relationship Id="rId23" Type="http://schemas.openxmlformats.org/officeDocument/2006/relationships/slide" Target="slides/slide11.xml"/><Relationship Id="rId24" Type="http://schemas.openxmlformats.org/officeDocument/2006/relationships/slide" Target="slides/slide12.xml"/><Relationship Id="rId25" Type="http://schemas.openxmlformats.org/officeDocument/2006/relationships/slide" Target="slides/slide13.xml"/><Relationship Id="rId26" Type="http://schemas.openxmlformats.org/officeDocument/2006/relationships/slide" Target="slides/slide14.xml"/><Relationship Id="rId27" Type="http://schemas.openxmlformats.org/officeDocument/2006/relationships/slide" Target="slides/slide15.xml"/><Relationship Id="rId28" Type="http://schemas.openxmlformats.org/officeDocument/2006/relationships/slide" Target="slides/slide16.xml"/><Relationship Id="rId29" Type="http://schemas.openxmlformats.org/officeDocument/2006/relationships/slide" Target="slides/slide17.xml"/><Relationship Id="rId3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6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7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8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9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0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8EB6224-AEDA-4661-B3C5-AD1A1A74801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3CCD5B7-E3A1-442D-B226-EFD2FB2076BE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8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9"/>
          </p:nvPr>
        </p:nvSpPr>
        <p:spPr/>
        <p:txBody>
          <a:bodyPr/>
          <a:p>
            <a:fld id="{F64D680C-4AB9-49E1-B141-182DF86EA927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7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12"/>
          </p:nvPr>
        </p:nvSpPr>
        <p:spPr/>
        <p:txBody>
          <a:bodyPr/>
          <a:p>
            <a:fld id="{1A34309A-CFCE-4233-900E-FC37D2FE506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0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4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5"/>
          </p:nvPr>
        </p:nvSpPr>
        <p:spPr/>
        <p:txBody>
          <a:bodyPr/>
          <a:p>
            <a:fld id="{583E2BC9-D0DC-44E4-B0B6-9EEBFB7DDC4D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7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18"/>
          </p:nvPr>
        </p:nvSpPr>
        <p:spPr/>
        <p:txBody>
          <a:bodyPr/>
          <a:p>
            <a:fld id="{AE25A358-9E28-416E-A8D6-7E8588BB8CDB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6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0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1"/>
          </p:nvPr>
        </p:nvSpPr>
        <p:spPr/>
        <p:txBody>
          <a:bodyPr/>
          <a:p>
            <a:fld id="{14C65240-F5A1-4A53-8964-0ECBDA25BAE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9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3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4"/>
          </p:nvPr>
        </p:nvSpPr>
        <p:spPr/>
        <p:txBody>
          <a:bodyPr/>
          <a:p>
            <a:fld id="{8905ABBB-7E03-42E0-A6F3-FABD09AD2AB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22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6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7"/>
          </p:nvPr>
        </p:nvSpPr>
        <p:spPr/>
        <p:txBody>
          <a:bodyPr/>
          <a:p>
            <a:fld id="{0C1A8424-EC6C-4362-AAC4-9734273707A6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5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9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0"/>
          </p:nvPr>
        </p:nvSpPr>
        <p:spPr/>
        <p:txBody>
          <a:bodyPr/>
          <a:p>
            <a:fld id="{9BE0C5D3-5522-4573-8744-671C7162332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28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3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3"/>
          </p:nvPr>
        </p:nvSpPr>
        <p:spPr/>
        <p:txBody>
          <a:bodyPr/>
          <a:p>
            <a:fld id="{D6685385-935A-4147-A255-A20478C5B0B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1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2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4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5.xml"/>
</Relationships>
</file>

<file path=ppt/slideMasters/_rels/slideMaster6.xml.rels><?xml version="1.0" encoding="UTF-8"?>
<Relationships xmlns="http://schemas.openxmlformats.org/package/2006/relationships"><Relationship Id="rId1" Type="http://schemas.openxmlformats.org/officeDocument/2006/relationships/theme" Target="../theme/theme6.xml"/><Relationship Id="rId2" Type="http://schemas.openxmlformats.org/officeDocument/2006/relationships/slideLayout" Target="../slideLayouts/slideLayout6.xml"/>
</Relationships>
</file>

<file path=ppt/slideMasters/_rels/slideMaster7.xml.rels><?xml version="1.0" encoding="UTF-8"?>
<Relationships xmlns="http://schemas.openxmlformats.org/package/2006/relationships"><Relationship Id="rId1" Type="http://schemas.openxmlformats.org/officeDocument/2006/relationships/theme" Target="../theme/theme7.xml"/><Relationship Id="rId2" Type="http://schemas.openxmlformats.org/officeDocument/2006/relationships/slideLayout" Target="../slideLayouts/slideLayout7.xml"/>
</Relationships>
</file>

<file path=ppt/slideMasters/_rels/slideMaster8.xml.rels><?xml version="1.0" encoding="UTF-8"?>
<Relationships xmlns="http://schemas.openxmlformats.org/package/2006/relationships"><Relationship Id="rId1" Type="http://schemas.openxmlformats.org/officeDocument/2006/relationships/theme" Target="../theme/theme8.xml"/><Relationship Id="rId2" Type="http://schemas.openxmlformats.org/officeDocument/2006/relationships/slideLayout" Target="../slideLayouts/slideLayout8.xml"/>
</Relationships>
</file>

<file path=ppt/slideMasters/_rels/slideMaster9.xml.rels><?xml version="1.0" encoding="UTF-8"?>
<Relationships xmlns="http://schemas.openxmlformats.org/package/2006/relationships"><Relationship Id="rId1" Type="http://schemas.openxmlformats.org/officeDocument/2006/relationships/theme" Target="../theme/theme9.xml"/><Relationship Id="rId2" Type="http://schemas.openxmlformats.org/officeDocument/2006/relationships/slideLayout" Target="../slideLayouts/slideLayout9.xml"/>
</Relationships>
</file>

<file path=ppt/slideMasters/_rels/slideMaster10.xml.rels><?xml version="1.0" encoding="UTF-8"?>
<Relationships xmlns="http://schemas.openxmlformats.org/package/2006/relationships"><Relationship Id="rId1" Type="http://schemas.openxmlformats.org/officeDocument/2006/relationships/theme" Target="../theme/theme10.xml"/><Relationship Id="rId2" Type="http://schemas.openxmlformats.org/officeDocument/2006/relationships/slideLayout" Target="../slideLayouts/slideLayout10.xml"/>
</Relationships>
</file>

<file path=ppt/slideMasters/_rels/slideMaster11.xml.rels><?xml version="1.0" encoding="UTF-8"?>
<Relationships xmlns="http://schemas.openxmlformats.org/package/2006/relationships"><Relationship Id="rId1" Type="http://schemas.openxmlformats.org/officeDocument/2006/relationships/theme" Target="../theme/theme11.xml"/><Relationship Id="rId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 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2B59CAF-F4ED-4768-BF0A-D349E94D8F8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 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78FB3C7-EE42-49D4-8F9B-E535BA093C25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1" r:id="rId2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o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d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a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r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i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y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4CD04DC-E114-486B-B4B0-022F572772B4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3" r:id="rId2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 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8762F5D2-EE05-4BDA-A3E6-8F39B24D15E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5" r:id="rId2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Clic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k to 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edit 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Mas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ter 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titl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e 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styl</a:t>
            </a:r>
            <a:r>
              <a:rPr b="1" lang="en-US" sz="4000" spc="-1" strike="noStrike" cap="all">
                <a:solidFill>
                  <a:schemeClr val="dk1"/>
                </a:solidFill>
                <a:latin typeface="Calibri"/>
              </a:rPr>
              <a:t>e</a:t>
            </a:r>
            <a:endParaRPr b="0" lang="en-US" sz="4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lang="en-US" sz="20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Click to edit Master text styles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27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74FF40D8-EA15-427C-81AF-52A2F3490B49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7" r:id="rId2"/>
  </p:sldLayoutIdLst>
</p:sldMaster>
</file>

<file path=ppt/slideMasters/slideMaster6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 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33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A2CEF626-8973-4D31-86C2-1B60D78D6B7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59" r:id="rId2"/>
  </p:sldLayoutIdLst>
</p:sldMaster>
</file>

<file path=ppt/slideMasters/slideMaster7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 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spcBef>
                <a:spcPts val="479"/>
              </a:spcBef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1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6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16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2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3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4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4BC2EBE3-3024-4C98-8620-76299BA40123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1" r:id="rId2"/>
  </p:sldLayoutIdLst>
</p:sldMaster>
</file>

<file path=ppt/slideMasters/slideMaster8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algn="ctr" defTabSz="457200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Clic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k to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edit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Mas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ter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title 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styl</a:t>
            </a:r>
            <a:r>
              <a:rPr b="0" lang="en-US" sz="4400" spc="-1" strike="noStrike">
                <a:solidFill>
                  <a:schemeClr val="dk1"/>
                </a:solidFill>
                <a:latin typeface="Calibri"/>
              </a:rPr>
              <a:t>e</a:t>
            </a:r>
            <a:endParaRPr b="0" lang="en-US" sz="4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7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48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27AA7C10-D998-4106-9152-19FDF9C10B48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3" r:id="rId2"/>
  </p:sldLayoutIdLst>
</p:sldMaster>
</file>

<file path=ppt/slideMasters/slideMaster9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93451AA1-99C1-475E-A375-031A807A1E1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en-US" sz="1800" spc="-1" strike="noStrike">
                <a:solidFill>
                  <a:schemeClr val="dk1"/>
                </a:solidFill>
                <a:latin typeface="Calibri"/>
              </a:rPr>
              <a:t>Click to edit the title text format</a:t>
            </a:r>
            <a:endParaRPr b="0" lang="en-US" sz="18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4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5" r:id="rId2"/>
  </p:sldLayoutIdLst>
</p:sldMaster>
</file>

<file path=ppt/slideMasters/slideMaster10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343080" indent="-343080" defTabSz="4572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743040" indent="-285840" defTabSz="4572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800" spc="-1" strike="noStrike">
                <a:solidFill>
                  <a:schemeClr val="dk1"/>
                </a:solidFill>
                <a:latin typeface="Calibri"/>
              </a:rPr>
              <a:t>Second level</a:t>
            </a:r>
            <a:endParaRPr b="0" lang="en-US" sz="2800" spc="-1" strike="noStrike">
              <a:solidFill>
                <a:schemeClr val="dk1"/>
              </a:solidFill>
              <a:latin typeface="Calibri"/>
            </a:endParaRPr>
          </a:p>
          <a:p>
            <a:pPr lvl="2" marL="1143000" indent="-228600" defTabSz="4572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pc="-1" strike="noStrike">
                <a:solidFill>
                  <a:schemeClr val="dk1"/>
                </a:solidFill>
                <a:latin typeface="Calibri"/>
              </a:rPr>
              <a:t>Third level</a:t>
            </a:r>
            <a:endParaRPr b="0" lang="en-US" sz="2400" spc="-1" strike="noStrike">
              <a:solidFill>
                <a:schemeClr val="dk1"/>
              </a:solidFill>
              <a:latin typeface="Calibri"/>
            </a:endParaRPr>
          </a:p>
          <a:p>
            <a:pPr lvl="3" marL="16002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Fourth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  <a:p>
            <a:pPr lvl="4" marL="2057400" indent="-228600" defTabSz="4572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000" spc="-1" strike="noStrike">
                <a:solidFill>
                  <a:schemeClr val="dk1"/>
                </a:solidFill>
                <a:latin typeface="Calibri"/>
              </a:rPr>
              <a:t>Fifth level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6D7B3418-A24B-4E53-8054-6DEE9B3A573F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7" r:id="rId2"/>
  </p:sldLayoutIdLst>
</p:sldMaster>
</file>

<file path=ppt/slideMasters/slideMaster1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457200">
              <a:lnSpc>
                <a:spcPct val="100000"/>
              </a:lnSpc>
              <a:buNone/>
            </a:pPr>
            <a:r>
              <a:rPr b="1" lang="en-US" sz="2000" spc="-1" strike="noStrike">
                <a:solidFill>
                  <a:schemeClr val="dk1"/>
                </a:solidFill>
                <a:latin typeface="Calibri"/>
              </a:rPr>
              <a:t>Click to edit Master title style</a:t>
            </a:r>
            <a:endParaRPr b="0" lang="en-US" sz="20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Click to edit the outline text format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Second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Third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Fourth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Fifth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Sixth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solidFill>
                  <a:schemeClr val="dk1"/>
                </a:solidFill>
                <a:latin typeface="Calibri"/>
              </a:rPr>
              <a:t>Seventh Outline Level</a:t>
            </a:r>
            <a:endParaRPr b="0" lang="en-US" sz="32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457200">
              <a:lnSpc>
                <a:spcPct val="100000"/>
              </a:lnSpc>
              <a:spcBef>
                <a:spcPts val="281"/>
              </a:spcBef>
              <a:buNone/>
              <a:tabLst>
                <a:tab algn="l" pos="0"/>
              </a:tabLst>
            </a:pPr>
            <a:r>
              <a:rPr b="0" lang="en-US" sz="1400" spc="-1" strike="noStrike">
                <a:solidFill>
                  <a:schemeClr val="dk1"/>
                </a:solidFill>
                <a:latin typeface="Calibri"/>
              </a:rPr>
              <a:t>Click to edit Master text styles</a:t>
            </a:r>
            <a:endParaRPr b="0" lang="en-US" sz="1400" spc="-1" strike="noStrike">
              <a:solidFill>
                <a:schemeClr val="dk1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defTabSz="457200"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&lt;date/time&gt;</a:t>
            </a:r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ctr"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</a:rPr>
              <a:t>&lt;footer&gt;</a:t>
            </a:r>
            <a:endParaRPr b="0" lang="en-US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lstStyle>
            <a:lvl1pPr indent="0" algn="r" defTabSz="457200">
              <a:lnSpc>
                <a:spcPct val="100000"/>
              </a:lnSpc>
              <a:buNone/>
              <a:def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defRPr>
            </a:lvl1pPr>
          </a:lstStyle>
          <a:p>
            <a:pPr indent="0" algn="r" defTabSz="457200">
              <a:lnSpc>
                <a:spcPct val="100000"/>
              </a:lnSpc>
              <a:buNone/>
            </a:pPr>
            <a:fld id="{1BACF402-3AE3-414D-8C03-7FE619931CD7}" type="slidenum">
              <a:rPr b="0" lang="en-US" sz="1200" spc="-1" strike="noStrike">
                <a:solidFill>
                  <a:schemeClr val="dk1">
                    <a:tint val="75000"/>
                  </a:schemeClr>
                </a:solidFill>
                <a:latin typeface="Calibri"/>
              </a:rPr>
              <a:t>&lt;number&gt;</a:t>
            </a:fld>
            <a:endParaRPr b="0" lang="en-US" sz="12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6c6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68" name="TextBox 2"/>
          <p:cNvSpPr/>
          <p:nvPr/>
        </p:nvSpPr>
        <p:spPr>
          <a:xfrm>
            <a:off x="1371600" y="731520"/>
            <a:ext cx="941796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00d2d3"/>
                </a:solidFill>
                <a:latin typeface="Calibri"/>
              </a:rPr>
              <a:t>Team Data Navigators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69" name="TextBox 3"/>
          <p:cNvSpPr/>
          <p:nvPr/>
        </p:nvSpPr>
        <p:spPr>
          <a:xfrm>
            <a:off x="1371600" y="1371600"/>
            <a:ext cx="94179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800" spc="-1" strike="noStrike">
                <a:solidFill>
                  <a:srgbClr val="9999bb"/>
                </a:solidFill>
                <a:latin typeface="Calibri"/>
              </a:rPr>
              <a:t>Descriptive Statistics Analysis of the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1371600" y="2011680"/>
            <a:ext cx="9417960" cy="759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4400" spc="-1" strike="noStrike">
                <a:solidFill>
                  <a:srgbClr val="ffffff"/>
                </a:solidFill>
                <a:latin typeface="Calibri"/>
              </a:rPr>
              <a:t>Mnemonic Similarity Task (MST)</a:t>
            </a:r>
            <a:endParaRPr b="0" lang="en-US" sz="4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1371600" y="2926080"/>
            <a:ext cx="941796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200" spc="-1" strike="noStrike">
                <a:solidFill>
                  <a:srgbClr val="a79bff"/>
                </a:solidFill>
                <a:latin typeface="Calibri"/>
              </a:rPr>
              <a:t>Examining Pattern Separation Across Encoding Conditions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2" name="Rectangle 6"/>
          <p:cNvSpPr/>
          <p:nvPr/>
        </p:nvSpPr>
        <p:spPr>
          <a:xfrm>
            <a:off x="4572000" y="3749040"/>
            <a:ext cx="3017160" cy="50400"/>
          </a:xfrm>
          <a:prstGeom prst="rect">
            <a:avLst/>
          </a:prstGeom>
          <a:solidFill>
            <a:srgbClr val="6c6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760" bIns="57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3" name="TextBox 7"/>
          <p:cNvSpPr/>
          <p:nvPr/>
        </p:nvSpPr>
        <p:spPr>
          <a:xfrm>
            <a:off x="2743200" y="4206240"/>
            <a:ext cx="6674760" cy="105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541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</a:rPr>
              <a:t>Sourav Nath  (Roll: 2025201054)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541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</a:rPr>
              <a:t>Piyush Kumar Agarwal  (Roll: 2025201082)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541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</a:rPr>
              <a:t>Rajarshi Chatterjee  (Roll: 2025814004)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4" name="TextBox 8"/>
          <p:cNvSpPr/>
          <p:nvPr/>
        </p:nvSpPr>
        <p:spPr>
          <a:xfrm>
            <a:off x="2743200" y="5760720"/>
            <a:ext cx="66747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9999bb"/>
                </a:solidFill>
                <a:latin typeface="Calibri"/>
              </a:rPr>
              <a:t>BRSM 2026  |  March 2026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TextBox 1"/>
          <p:cNvSpPr/>
          <p:nvPr/>
        </p:nvSpPr>
        <p:spPr>
          <a:xfrm>
            <a:off x="731520" y="457200"/>
            <a:ext cx="589788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</a:rPr>
              <a:t>Presentation Outline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6" name="Rectangle 2"/>
          <p:cNvSpPr/>
          <p:nvPr/>
        </p:nvSpPr>
        <p:spPr>
          <a:xfrm>
            <a:off x="731520" y="1097280"/>
            <a:ext cx="2742840" cy="50400"/>
          </a:xfrm>
          <a:prstGeom prst="rect">
            <a:avLst/>
          </a:prstGeom>
          <a:solidFill>
            <a:srgbClr val="6c6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760" bIns="57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7" name="Rounded Rectangle 3"/>
          <p:cNvSpPr/>
          <p:nvPr/>
        </p:nvSpPr>
        <p:spPr>
          <a:xfrm>
            <a:off x="731520" y="1463040"/>
            <a:ext cx="456840" cy="411120"/>
          </a:xfrm>
          <a:prstGeom prst="roundRect">
            <a:avLst>
              <a:gd name="adj" fmla="val 15000"/>
            </a:avLst>
          </a:prstGeom>
          <a:solidFill>
            <a:srgbClr val="6c6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78" name="TextBox 4"/>
          <p:cNvSpPr/>
          <p:nvPr/>
        </p:nvSpPr>
        <p:spPr>
          <a:xfrm>
            <a:off x="731520" y="1513800"/>
            <a:ext cx="4568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01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79" name="TextBox 5"/>
          <p:cNvSpPr/>
          <p:nvPr/>
        </p:nvSpPr>
        <p:spPr>
          <a:xfrm>
            <a:off x="1371600" y="1463040"/>
            <a:ext cx="45716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</a:rPr>
              <a:t>Introduction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0" name="TextBox 6"/>
          <p:cNvSpPr/>
          <p:nvPr/>
        </p:nvSpPr>
        <p:spPr>
          <a:xfrm>
            <a:off x="1371600" y="1700640"/>
            <a:ext cx="4571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999bb"/>
                </a:solidFill>
                <a:latin typeface="Calibri"/>
              </a:rPr>
              <a:t>Pattern separation &amp; memory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1" name="Rounded Rectangle 7"/>
          <p:cNvSpPr/>
          <p:nvPr/>
        </p:nvSpPr>
        <p:spPr>
          <a:xfrm>
            <a:off x="731520" y="2030040"/>
            <a:ext cx="456840" cy="411120"/>
          </a:xfrm>
          <a:prstGeom prst="roundRect">
            <a:avLst>
              <a:gd name="adj" fmla="val 15000"/>
            </a:avLst>
          </a:prstGeom>
          <a:solidFill>
            <a:srgbClr val="6c6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2" name="TextBox 8"/>
          <p:cNvSpPr/>
          <p:nvPr/>
        </p:nvSpPr>
        <p:spPr>
          <a:xfrm>
            <a:off x="731520" y="2080800"/>
            <a:ext cx="4568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02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3" name="TextBox 9"/>
          <p:cNvSpPr/>
          <p:nvPr/>
        </p:nvSpPr>
        <p:spPr>
          <a:xfrm>
            <a:off x="1371600" y="2030040"/>
            <a:ext cx="45716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</a:rPr>
              <a:t>Background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4" name="TextBox 10"/>
          <p:cNvSpPr/>
          <p:nvPr/>
        </p:nvSpPr>
        <p:spPr>
          <a:xfrm>
            <a:off x="1371600" y="2267640"/>
            <a:ext cx="4571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999bb"/>
                </a:solidFill>
                <a:latin typeface="Calibri"/>
              </a:rPr>
              <a:t>MST paradigm details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5" name="Rounded Rectangle 11"/>
          <p:cNvSpPr/>
          <p:nvPr/>
        </p:nvSpPr>
        <p:spPr>
          <a:xfrm>
            <a:off x="731520" y="2597040"/>
            <a:ext cx="456840" cy="411120"/>
          </a:xfrm>
          <a:prstGeom prst="roundRect">
            <a:avLst>
              <a:gd name="adj" fmla="val 15000"/>
            </a:avLst>
          </a:prstGeom>
          <a:solidFill>
            <a:srgbClr val="6c6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86" name="TextBox 12"/>
          <p:cNvSpPr/>
          <p:nvPr/>
        </p:nvSpPr>
        <p:spPr>
          <a:xfrm>
            <a:off x="731520" y="2647800"/>
            <a:ext cx="4568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03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7" name="TextBox 13"/>
          <p:cNvSpPr/>
          <p:nvPr/>
        </p:nvSpPr>
        <p:spPr>
          <a:xfrm>
            <a:off x="1371600" y="2597040"/>
            <a:ext cx="45716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</a:rPr>
              <a:t>Hypotheses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8" name="TextBox 14"/>
          <p:cNvSpPr/>
          <p:nvPr/>
        </p:nvSpPr>
        <p:spPr>
          <a:xfrm>
            <a:off x="1371600" y="2834640"/>
            <a:ext cx="4571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999bb"/>
                </a:solidFill>
                <a:latin typeface="Calibri"/>
              </a:rPr>
              <a:t>Null &amp; alternative hypotheses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89" name="Rounded Rectangle 15"/>
          <p:cNvSpPr/>
          <p:nvPr/>
        </p:nvSpPr>
        <p:spPr>
          <a:xfrm>
            <a:off x="731520" y="3163680"/>
            <a:ext cx="456840" cy="411120"/>
          </a:xfrm>
          <a:prstGeom prst="roundRect">
            <a:avLst>
              <a:gd name="adj" fmla="val 15000"/>
            </a:avLst>
          </a:prstGeom>
          <a:solidFill>
            <a:srgbClr val="6c6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0" name="TextBox 16"/>
          <p:cNvSpPr/>
          <p:nvPr/>
        </p:nvSpPr>
        <p:spPr>
          <a:xfrm>
            <a:off x="731520" y="3214800"/>
            <a:ext cx="4568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04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1" name="TextBox 17"/>
          <p:cNvSpPr/>
          <p:nvPr/>
        </p:nvSpPr>
        <p:spPr>
          <a:xfrm>
            <a:off x="1371600" y="3163680"/>
            <a:ext cx="45716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</a:rPr>
              <a:t>Experiment Design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2" name="TextBox 18"/>
          <p:cNvSpPr/>
          <p:nvPr/>
        </p:nvSpPr>
        <p:spPr>
          <a:xfrm>
            <a:off x="1371600" y="3401640"/>
            <a:ext cx="4571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999bb"/>
                </a:solidFill>
                <a:latin typeface="Calibri"/>
              </a:rPr>
              <a:t>Conditions, stimuli &amp; procedure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3" name="Rounded Rectangle 19"/>
          <p:cNvSpPr/>
          <p:nvPr/>
        </p:nvSpPr>
        <p:spPr>
          <a:xfrm>
            <a:off x="731520" y="3730680"/>
            <a:ext cx="456840" cy="411120"/>
          </a:xfrm>
          <a:prstGeom prst="roundRect">
            <a:avLst>
              <a:gd name="adj" fmla="val 15000"/>
            </a:avLst>
          </a:prstGeom>
          <a:solidFill>
            <a:srgbClr val="6c6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4" name="TextBox 20"/>
          <p:cNvSpPr/>
          <p:nvPr/>
        </p:nvSpPr>
        <p:spPr>
          <a:xfrm>
            <a:off x="731520" y="3781440"/>
            <a:ext cx="4568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05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5" name="TextBox 21"/>
          <p:cNvSpPr/>
          <p:nvPr/>
        </p:nvSpPr>
        <p:spPr>
          <a:xfrm>
            <a:off x="1371600" y="3730680"/>
            <a:ext cx="45716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</a:rPr>
              <a:t>Methods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6" name="TextBox 22"/>
          <p:cNvSpPr/>
          <p:nvPr/>
        </p:nvSpPr>
        <p:spPr>
          <a:xfrm>
            <a:off x="1371600" y="3968640"/>
            <a:ext cx="4571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999bb"/>
                </a:solidFill>
                <a:latin typeface="Calibri"/>
              </a:rPr>
              <a:t>Data processing &amp; metrics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7" name="Rounded Rectangle 23"/>
          <p:cNvSpPr/>
          <p:nvPr/>
        </p:nvSpPr>
        <p:spPr>
          <a:xfrm>
            <a:off x="731520" y="4297680"/>
            <a:ext cx="456840" cy="411120"/>
          </a:xfrm>
          <a:prstGeom prst="roundRect">
            <a:avLst>
              <a:gd name="adj" fmla="val 15000"/>
            </a:avLst>
          </a:prstGeom>
          <a:solidFill>
            <a:srgbClr val="6c6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98" name="TextBox 24"/>
          <p:cNvSpPr/>
          <p:nvPr/>
        </p:nvSpPr>
        <p:spPr>
          <a:xfrm>
            <a:off x="731520" y="4348440"/>
            <a:ext cx="4568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06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99" name="TextBox 25"/>
          <p:cNvSpPr/>
          <p:nvPr/>
        </p:nvSpPr>
        <p:spPr>
          <a:xfrm>
            <a:off x="1371600" y="4297680"/>
            <a:ext cx="45716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</a:rPr>
              <a:t>Results: Performance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0" name="TextBox 26"/>
          <p:cNvSpPr/>
          <p:nvPr/>
        </p:nvSpPr>
        <p:spPr>
          <a:xfrm>
            <a:off x="1371600" y="4535280"/>
            <a:ext cx="4571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999bb"/>
                </a:solidFill>
                <a:latin typeface="Calibri"/>
              </a:rPr>
              <a:t>Summary stats &amp; hypothesis tests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1" name="Rounded Rectangle 27"/>
          <p:cNvSpPr/>
          <p:nvPr/>
        </p:nvSpPr>
        <p:spPr>
          <a:xfrm>
            <a:off x="731520" y="4864680"/>
            <a:ext cx="456840" cy="411120"/>
          </a:xfrm>
          <a:prstGeom prst="roundRect">
            <a:avLst>
              <a:gd name="adj" fmla="val 15000"/>
            </a:avLst>
          </a:prstGeom>
          <a:solidFill>
            <a:srgbClr val="6c6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2" name="TextBox 28"/>
          <p:cNvSpPr/>
          <p:nvPr/>
        </p:nvSpPr>
        <p:spPr>
          <a:xfrm>
            <a:off x="731520" y="4915440"/>
            <a:ext cx="4568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07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3" name="TextBox 29"/>
          <p:cNvSpPr/>
          <p:nvPr/>
        </p:nvSpPr>
        <p:spPr>
          <a:xfrm>
            <a:off x="1371600" y="4864680"/>
            <a:ext cx="45716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</a:rPr>
              <a:t>Results: Response Proportions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4" name="TextBox 30"/>
          <p:cNvSpPr/>
          <p:nvPr/>
        </p:nvSpPr>
        <p:spPr>
          <a:xfrm>
            <a:off x="1371600" y="5102280"/>
            <a:ext cx="4571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999bb"/>
                </a:solidFill>
                <a:latin typeface="Calibri"/>
              </a:rPr>
              <a:t>Distribution across stimulus types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5" name="Rounded Rectangle 31"/>
          <p:cNvSpPr/>
          <p:nvPr/>
        </p:nvSpPr>
        <p:spPr>
          <a:xfrm>
            <a:off x="731520" y="5431680"/>
            <a:ext cx="456840" cy="411120"/>
          </a:xfrm>
          <a:prstGeom prst="roundRect">
            <a:avLst>
              <a:gd name="adj" fmla="val 15000"/>
            </a:avLst>
          </a:prstGeom>
          <a:solidFill>
            <a:srgbClr val="6c6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06" name="TextBox 32"/>
          <p:cNvSpPr/>
          <p:nvPr/>
        </p:nvSpPr>
        <p:spPr>
          <a:xfrm>
            <a:off x="731520" y="5482440"/>
            <a:ext cx="4568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08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7" name="TextBox 33"/>
          <p:cNvSpPr/>
          <p:nvPr/>
        </p:nvSpPr>
        <p:spPr>
          <a:xfrm>
            <a:off x="1371600" y="5431680"/>
            <a:ext cx="45716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</a:rPr>
              <a:t>Results: LDI &amp; RT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8" name="TextBox 34"/>
          <p:cNvSpPr/>
          <p:nvPr/>
        </p:nvSpPr>
        <p:spPr>
          <a:xfrm>
            <a:off x="1371600" y="5669280"/>
            <a:ext cx="4571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999bb"/>
                </a:solidFill>
                <a:latin typeface="Calibri"/>
              </a:rPr>
              <a:t>Distributions, reaction times, similarity bins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09" name="Rounded Rectangle 35"/>
          <p:cNvSpPr/>
          <p:nvPr/>
        </p:nvSpPr>
        <p:spPr>
          <a:xfrm>
            <a:off x="731520" y="5998320"/>
            <a:ext cx="456840" cy="411120"/>
          </a:xfrm>
          <a:prstGeom prst="roundRect">
            <a:avLst>
              <a:gd name="adj" fmla="val 15000"/>
            </a:avLst>
          </a:prstGeom>
          <a:solidFill>
            <a:srgbClr val="6c6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0" name="TextBox 36"/>
          <p:cNvSpPr/>
          <p:nvPr/>
        </p:nvSpPr>
        <p:spPr>
          <a:xfrm>
            <a:off x="731520" y="6049440"/>
            <a:ext cx="4568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09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1" name="TextBox 37"/>
          <p:cNvSpPr/>
          <p:nvPr/>
        </p:nvSpPr>
        <p:spPr>
          <a:xfrm>
            <a:off x="1371600" y="5998320"/>
            <a:ext cx="4571640" cy="348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700" spc="-1" strike="noStrike">
                <a:solidFill>
                  <a:srgbClr val="ffffff"/>
                </a:solidFill>
                <a:latin typeface="Calibri"/>
              </a:rPr>
              <a:t>Conclusions</a:t>
            </a:r>
            <a:endParaRPr b="0" lang="en-US" sz="17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2" name="TextBox 38"/>
          <p:cNvSpPr/>
          <p:nvPr/>
        </p:nvSpPr>
        <p:spPr>
          <a:xfrm>
            <a:off x="1371600" y="6236280"/>
            <a:ext cx="45716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999bb"/>
                </a:solidFill>
                <a:latin typeface="Calibri"/>
              </a:rPr>
              <a:t>Key findings &amp; future directions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3" name="Rounded Rectangle 39"/>
          <p:cNvSpPr/>
          <p:nvPr/>
        </p:nvSpPr>
        <p:spPr>
          <a:xfrm>
            <a:off x="7772400" y="457200"/>
            <a:ext cx="3931560" cy="594324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4" name="TextBox 40"/>
          <p:cNvSpPr/>
          <p:nvPr/>
        </p:nvSpPr>
        <p:spPr>
          <a:xfrm>
            <a:off x="8229600" y="914400"/>
            <a:ext cx="32000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a79bff"/>
                </a:solidFill>
                <a:latin typeface="Calibri"/>
              </a:rPr>
              <a:t>Key Highlights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5" name="TextBox 41"/>
          <p:cNvSpPr/>
          <p:nvPr/>
        </p:nvSpPr>
        <p:spPr>
          <a:xfrm>
            <a:off x="8229600" y="1463040"/>
            <a:ext cx="3200040" cy="190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20"/>
              </a:spcAft>
            </a:pPr>
            <a:r>
              <a:rPr b="0" lang="en-US" sz="1400" spc="-1" strike="noStrike">
                <a:solidFill>
                  <a:srgbClr val="ccccdd"/>
                </a:solidFill>
                <a:latin typeface="Calibri"/>
              </a:rPr>
              <a:t>✦  </a:t>
            </a:r>
            <a:r>
              <a:rPr b="0" lang="en-US" sz="1400" spc="-1" strike="noStrike">
                <a:solidFill>
                  <a:srgbClr val="ccccdd"/>
                </a:solidFill>
                <a:latin typeface="Calibri"/>
              </a:rPr>
              <a:t>160 participants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20"/>
              </a:spcAft>
            </a:pPr>
            <a:r>
              <a:rPr b="0" lang="en-US" sz="1400" spc="-1" strike="noStrike">
                <a:solidFill>
                  <a:srgbClr val="ccccdd"/>
                </a:solidFill>
                <a:latin typeface="Calibri"/>
              </a:rPr>
              <a:t>✦  </a:t>
            </a:r>
            <a:r>
              <a:rPr b="0" lang="en-US" sz="1400" spc="-1" strike="noStrike">
                <a:solidFill>
                  <a:srgbClr val="ccccdd"/>
                </a:solidFill>
                <a:latin typeface="Calibri"/>
              </a:rPr>
              <a:t>3 encoding conditions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20"/>
              </a:spcAft>
            </a:pPr>
            <a:r>
              <a:rPr b="0" lang="en-US" sz="1400" spc="-1" strike="noStrike">
                <a:solidFill>
                  <a:srgbClr val="ccccdd"/>
                </a:solidFill>
                <a:latin typeface="Calibri"/>
              </a:rPr>
              <a:t>✦  </a:t>
            </a:r>
            <a:r>
              <a:rPr b="0" lang="en-US" sz="1400" spc="-1" strike="noStrike">
                <a:solidFill>
                  <a:srgbClr val="ccccdd"/>
                </a:solidFill>
                <a:latin typeface="Calibri"/>
              </a:rPr>
              <a:t>Formal hypothesis testing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20"/>
              </a:spcAft>
            </a:pPr>
            <a:r>
              <a:rPr b="0" lang="en-US" sz="1400" spc="-1" strike="noStrike">
                <a:solidFill>
                  <a:srgbClr val="ccccdd"/>
                </a:solidFill>
                <a:latin typeface="Calibri"/>
              </a:rPr>
              <a:t>✦  </a:t>
            </a:r>
            <a:r>
              <a:rPr b="0" lang="en-US" sz="1400" spc="-1" strike="noStrike">
                <a:solidFill>
                  <a:srgbClr val="ccccdd"/>
                </a:solidFill>
                <a:latin typeface="Calibri"/>
              </a:rPr>
              <a:t>LDI &amp; REC metrics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20"/>
              </a:spcAft>
            </a:pPr>
            <a:r>
              <a:rPr b="0" lang="en-US" sz="1400" spc="-1" strike="noStrike">
                <a:solidFill>
                  <a:srgbClr val="ccccdd"/>
                </a:solidFill>
                <a:latin typeface="Calibri"/>
              </a:rPr>
              <a:t>✦  </a:t>
            </a:r>
            <a:r>
              <a:rPr b="0" lang="en-US" sz="1400" spc="-1" strike="noStrike">
                <a:solidFill>
                  <a:srgbClr val="ccccdd"/>
                </a:solidFill>
                <a:latin typeface="Calibri"/>
              </a:rPr>
              <a:t>5 similarity bins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20"/>
              </a:spcAft>
            </a:pPr>
            <a:r>
              <a:rPr b="0" lang="en-US" sz="1400" spc="-1" strike="noStrike">
                <a:solidFill>
                  <a:srgbClr val="ccccdd"/>
                </a:solidFill>
                <a:latin typeface="Calibri"/>
              </a:rPr>
              <a:t>✦  </a:t>
            </a:r>
            <a:r>
              <a:rPr b="0" lang="en-US" sz="1400" spc="-1" strike="noStrike">
                <a:solidFill>
                  <a:srgbClr val="ccccdd"/>
                </a:solidFill>
                <a:latin typeface="Calibri"/>
              </a:rPr>
              <a:t>RT profiling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20"/>
              </a:spcAft>
            </a:pPr>
            <a:r>
              <a:rPr b="0" lang="en-US" sz="1400" spc="-1" strike="noStrike">
                <a:solidFill>
                  <a:srgbClr val="ccccdd"/>
                </a:solidFill>
                <a:latin typeface="Calibri"/>
              </a:rPr>
              <a:t>✦  </a:t>
            </a:r>
            <a:r>
              <a:rPr b="0" lang="en-US" sz="1400" spc="-1" strike="noStrike">
                <a:solidFill>
                  <a:srgbClr val="ccccdd"/>
                </a:solidFill>
                <a:latin typeface="Calibri"/>
              </a:rPr>
              <a:t>Normality testing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TextBox 1"/>
          <p:cNvSpPr/>
          <p:nvPr/>
        </p:nvSpPr>
        <p:spPr>
          <a:xfrm>
            <a:off x="731520" y="457200"/>
            <a:ext cx="45716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</a:rPr>
              <a:t>Introduction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7" name="Rectangle 2"/>
          <p:cNvSpPr/>
          <p:nvPr/>
        </p:nvSpPr>
        <p:spPr>
          <a:xfrm>
            <a:off x="731520" y="1097280"/>
            <a:ext cx="1828440" cy="50400"/>
          </a:xfrm>
          <a:prstGeom prst="rect">
            <a:avLst/>
          </a:prstGeom>
          <a:solidFill>
            <a:srgbClr val="6c6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760" bIns="57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18" name="TextBox 3"/>
          <p:cNvSpPr/>
          <p:nvPr/>
        </p:nvSpPr>
        <p:spPr>
          <a:xfrm>
            <a:off x="731520" y="1463040"/>
            <a:ext cx="5303160" cy="5371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20"/>
              </a:spcAft>
            </a:pPr>
            <a:r>
              <a:rPr b="1" lang="en-US" sz="1400" spc="-1" strike="noStrike">
                <a:solidFill>
                  <a:srgbClr val="ccccdd"/>
                </a:solidFill>
                <a:latin typeface="Calibri"/>
              </a:rPr>
              <a:t>What is Pattern Separation?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20"/>
              </a:spcAf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20"/>
              </a:spcAft>
            </a:pPr>
            <a:r>
              <a:rPr b="0" lang="en-US" sz="1400" spc="-1" strike="noStrike">
                <a:solidFill>
                  <a:srgbClr val="ccccdd"/>
                </a:solidFill>
                <a:latin typeface="Calibri"/>
              </a:rPr>
              <a:t>  • </a:t>
            </a:r>
            <a:r>
              <a:rPr b="0" lang="en-US" sz="1400" spc="-1" strike="noStrike">
                <a:solidFill>
                  <a:srgbClr val="ccccdd"/>
                </a:solidFill>
                <a:latin typeface="Calibri"/>
              </a:rPr>
              <a:t>The ability to distinguish highly similar yet distinct experiences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20"/>
              </a:spcAft>
            </a:pPr>
            <a:r>
              <a:rPr b="0" lang="en-US" sz="1400" spc="-1" strike="noStrike">
                <a:solidFill>
                  <a:srgbClr val="ccccdd"/>
                </a:solidFill>
                <a:latin typeface="Calibri"/>
              </a:rPr>
              <a:t>  • </a:t>
            </a:r>
            <a:r>
              <a:rPr b="0" lang="en-US" sz="1400" spc="-1" strike="noStrike">
                <a:solidFill>
                  <a:srgbClr val="ccccdd"/>
                </a:solidFill>
                <a:latin typeface="Calibri"/>
              </a:rPr>
              <a:t>Fundamental to episodic memory function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20"/>
              </a:spcAft>
            </a:pPr>
            <a:r>
              <a:rPr b="0" lang="en-US" sz="1400" spc="-1" strike="noStrike">
                <a:solidFill>
                  <a:srgbClr val="ccccdd"/>
                </a:solidFill>
                <a:latin typeface="Calibri"/>
              </a:rPr>
              <a:t>  • </a:t>
            </a:r>
            <a:r>
              <a:rPr b="0" lang="en-US" sz="1400" spc="-1" strike="noStrike">
                <a:solidFill>
                  <a:srgbClr val="ccccdd"/>
                </a:solidFill>
                <a:latin typeface="Calibri"/>
              </a:rPr>
              <a:t>Prevents memory interference between overlapping representations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20"/>
              </a:spcAf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20"/>
              </a:spcAft>
            </a:pPr>
            <a:r>
              <a:rPr b="1" lang="en-US" sz="1400" spc="-1" strike="noStrike">
                <a:solidFill>
                  <a:srgbClr val="ccccdd"/>
                </a:solidFill>
                <a:latin typeface="Calibri"/>
              </a:rPr>
              <a:t>Neural Basis: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20"/>
              </a:spcAf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20"/>
              </a:spcAft>
            </a:pPr>
            <a:r>
              <a:rPr b="0" lang="en-US" sz="1400" spc="-1" strike="noStrike">
                <a:solidFill>
                  <a:srgbClr val="ccccdd"/>
                </a:solidFill>
                <a:latin typeface="Calibri"/>
              </a:rPr>
              <a:t>  • </a:t>
            </a:r>
            <a:r>
              <a:rPr b="0" lang="en-US" sz="1400" spc="-1" strike="noStrike">
                <a:solidFill>
                  <a:srgbClr val="ccccdd"/>
                </a:solidFill>
                <a:latin typeface="Calibri"/>
              </a:rPr>
              <a:t>Attributed primarily to hippocampal dentate gyrus (DG)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20"/>
              </a:spcAft>
            </a:pPr>
            <a:r>
              <a:rPr b="0" lang="en-US" sz="1400" spc="-1" strike="noStrike">
                <a:solidFill>
                  <a:srgbClr val="ccccdd"/>
                </a:solidFill>
                <a:latin typeface="Calibri"/>
              </a:rPr>
              <a:t>  • </a:t>
            </a:r>
            <a:r>
              <a:rPr b="0" lang="en-US" sz="1400" spc="-1" strike="noStrike">
                <a:solidFill>
                  <a:srgbClr val="ccccdd"/>
                </a:solidFill>
                <a:latin typeface="Calibri"/>
              </a:rPr>
              <a:t>DG transforms overlapping inputs into distinct neural codes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20"/>
              </a:spcAft>
            </a:pPr>
            <a:r>
              <a:rPr b="0" lang="en-US" sz="1400" spc="-1" strike="noStrike">
                <a:solidFill>
                  <a:srgbClr val="ccccdd"/>
                </a:solidFill>
                <a:latin typeface="Calibri"/>
              </a:rPr>
              <a:t>  • </a:t>
            </a:r>
            <a:r>
              <a:rPr b="0" lang="en-US" sz="1400" spc="-1" strike="noStrike">
                <a:solidFill>
                  <a:srgbClr val="ccccdd"/>
                </a:solidFill>
                <a:latin typeface="Calibri"/>
              </a:rPr>
              <a:t>Complemented by pattern completion in CA3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20"/>
              </a:spcAf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20"/>
              </a:spcAft>
            </a:pPr>
            <a:r>
              <a:rPr b="1" lang="en-US" sz="1400" spc="-1" strike="noStrike">
                <a:solidFill>
                  <a:srgbClr val="ccccdd"/>
                </a:solidFill>
                <a:latin typeface="Calibri"/>
              </a:rPr>
              <a:t>Why Study It?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20"/>
              </a:spcAf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20"/>
              </a:spcAft>
            </a:pPr>
            <a:r>
              <a:rPr b="0" lang="en-US" sz="1400" spc="-1" strike="noStrike">
                <a:solidFill>
                  <a:srgbClr val="ccccdd"/>
                </a:solidFill>
                <a:latin typeface="Calibri"/>
              </a:rPr>
              <a:t>  • </a:t>
            </a:r>
            <a:r>
              <a:rPr b="0" lang="en-US" sz="1400" spc="-1" strike="noStrike">
                <a:solidFill>
                  <a:srgbClr val="ccccdd"/>
                </a:solidFill>
                <a:latin typeface="Calibri"/>
              </a:rPr>
              <a:t>Critical for understanding memory disorders (e.g., aging, MCI, AD)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20"/>
              </a:spcAft>
            </a:pPr>
            <a:r>
              <a:rPr b="0" lang="en-US" sz="1400" spc="-1" strike="noStrike">
                <a:solidFill>
                  <a:srgbClr val="ccccdd"/>
                </a:solidFill>
                <a:latin typeface="Calibri"/>
              </a:rPr>
              <a:t>  • </a:t>
            </a:r>
            <a:r>
              <a:rPr b="0" lang="en-US" sz="1400" spc="-1" strike="noStrike">
                <a:solidFill>
                  <a:srgbClr val="ccccdd"/>
                </a:solidFill>
                <a:latin typeface="Calibri"/>
              </a:rPr>
              <a:t>Enables objective behavioral measurement of a neural process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19" name="Rounded Rectangle 4"/>
          <p:cNvSpPr/>
          <p:nvPr/>
        </p:nvSpPr>
        <p:spPr>
          <a:xfrm>
            <a:off x="6675120" y="1463040"/>
            <a:ext cx="4754520" cy="457164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0" name="TextBox 5"/>
          <p:cNvSpPr/>
          <p:nvPr/>
        </p:nvSpPr>
        <p:spPr>
          <a:xfrm>
            <a:off x="7040880" y="1645920"/>
            <a:ext cx="41144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ffd93d"/>
                </a:solidFill>
                <a:latin typeface="Calibri"/>
              </a:rPr>
              <a:t>Key References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1" name="Rectangle 6"/>
          <p:cNvSpPr/>
          <p:nvPr/>
        </p:nvSpPr>
        <p:spPr>
          <a:xfrm>
            <a:off x="7040880" y="2103120"/>
            <a:ext cx="1828440" cy="50400"/>
          </a:xfrm>
          <a:prstGeom prst="rect">
            <a:avLst/>
          </a:prstGeom>
          <a:solidFill>
            <a:srgbClr val="6c6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760" bIns="57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2" name="TextBox 7"/>
          <p:cNvSpPr/>
          <p:nvPr/>
        </p:nvSpPr>
        <p:spPr>
          <a:xfrm>
            <a:off x="7040880" y="2377440"/>
            <a:ext cx="4114440" cy="2768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91"/>
              </a:spcAft>
            </a:pPr>
            <a:r>
              <a:rPr b="1" lang="en-US" sz="1300" spc="-1" strike="noStrike">
                <a:solidFill>
                  <a:srgbClr val="ccccdd"/>
                </a:solidFill>
                <a:latin typeface="Calibri"/>
              </a:rPr>
              <a:t>Yassa &amp; Stark (2011)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91"/>
              </a:spcAft>
            </a:pPr>
            <a:r>
              <a:rPr b="0" lang="en-US" sz="1300" spc="-1" strike="noStrike">
                <a:solidFill>
                  <a:srgbClr val="ccccdd"/>
                </a:solidFill>
                <a:latin typeface="Calibri"/>
              </a:rPr>
              <a:t>  </a:t>
            </a:r>
            <a:r>
              <a:rPr b="0" lang="en-US" sz="1300" spc="-1" strike="noStrike">
                <a:solidFill>
                  <a:srgbClr val="ccccdd"/>
                </a:solidFill>
                <a:latin typeface="Calibri"/>
              </a:rPr>
              <a:t>Pattern separation in the hippocampus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91"/>
              </a:spcAft>
            </a:pPr>
            <a:r>
              <a:rPr b="0" lang="en-US" sz="1300" spc="-1" strike="noStrike">
                <a:solidFill>
                  <a:srgbClr val="ccccdd"/>
                </a:solidFill>
                <a:latin typeface="Calibri"/>
              </a:rPr>
              <a:t>  </a:t>
            </a:r>
            <a:r>
              <a:rPr b="0" lang="en-US" sz="1300" spc="-1" strike="noStrike">
                <a:solidFill>
                  <a:srgbClr val="ccccdd"/>
                </a:solidFill>
                <a:latin typeface="Calibri"/>
              </a:rPr>
              <a:t>Trends in Neurosciences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91"/>
              </a:spcAft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91"/>
              </a:spcAft>
            </a:pPr>
            <a:r>
              <a:rPr b="1" lang="en-US" sz="1300" spc="-1" strike="noStrike">
                <a:solidFill>
                  <a:srgbClr val="ccccdd"/>
                </a:solidFill>
                <a:latin typeface="Calibri"/>
              </a:rPr>
              <a:t>Bakker et al. (2008)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91"/>
              </a:spcAft>
            </a:pPr>
            <a:r>
              <a:rPr b="0" lang="en-US" sz="1300" spc="-1" strike="noStrike">
                <a:solidFill>
                  <a:srgbClr val="ccccdd"/>
                </a:solidFill>
                <a:latin typeface="Calibri"/>
              </a:rPr>
              <a:t>  </a:t>
            </a:r>
            <a:r>
              <a:rPr b="0" lang="en-US" sz="1300" spc="-1" strike="noStrike">
                <a:solidFill>
                  <a:srgbClr val="ccccdd"/>
                </a:solidFill>
                <a:latin typeface="Calibri"/>
              </a:rPr>
              <a:t>Pattern separation in human CA3/DG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91"/>
              </a:spcAft>
            </a:pPr>
            <a:r>
              <a:rPr b="0" lang="en-US" sz="1300" spc="-1" strike="noStrike">
                <a:solidFill>
                  <a:srgbClr val="ccccdd"/>
                </a:solidFill>
                <a:latin typeface="Calibri"/>
              </a:rPr>
              <a:t>  </a:t>
            </a:r>
            <a:r>
              <a:rPr b="0" lang="en-US" sz="1300" spc="-1" strike="noStrike">
                <a:solidFill>
                  <a:srgbClr val="ccccdd"/>
                </a:solidFill>
                <a:latin typeface="Calibri"/>
              </a:rPr>
              <a:t>Science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91"/>
              </a:spcAft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91"/>
              </a:spcAft>
            </a:pPr>
            <a:r>
              <a:rPr b="1" lang="en-US" sz="1300" spc="-1" strike="noStrike">
                <a:solidFill>
                  <a:srgbClr val="ccccdd"/>
                </a:solidFill>
                <a:latin typeface="Calibri"/>
              </a:rPr>
              <a:t>Kirwan &amp; Stark (2007)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91"/>
              </a:spcAft>
            </a:pPr>
            <a:r>
              <a:rPr b="0" lang="en-US" sz="1300" spc="-1" strike="noStrike">
                <a:solidFill>
                  <a:srgbClr val="ccccdd"/>
                </a:solidFill>
                <a:latin typeface="Calibri"/>
              </a:rPr>
              <a:t>  </a:t>
            </a:r>
            <a:r>
              <a:rPr b="0" lang="en-US" sz="1300" spc="-1" strike="noStrike">
                <a:solidFill>
                  <a:srgbClr val="ccccdd"/>
                </a:solidFill>
                <a:latin typeface="Calibri"/>
              </a:rPr>
              <a:t>Overcoming interference via pattern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91"/>
              </a:spcAft>
            </a:pPr>
            <a:r>
              <a:rPr b="0" lang="en-US" sz="1300" spc="-1" strike="noStrike">
                <a:solidFill>
                  <a:srgbClr val="ccccdd"/>
                </a:solidFill>
                <a:latin typeface="Calibri"/>
              </a:rPr>
              <a:t>  </a:t>
            </a:r>
            <a:r>
              <a:rPr b="0" lang="en-US" sz="1300" spc="-1" strike="noStrike">
                <a:solidFill>
                  <a:srgbClr val="ccccdd"/>
                </a:solidFill>
                <a:latin typeface="Calibri"/>
              </a:rPr>
              <a:t>separation in the MTL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TextBox 1"/>
          <p:cNvSpPr/>
          <p:nvPr/>
        </p:nvSpPr>
        <p:spPr>
          <a:xfrm>
            <a:off x="731520" y="459000"/>
            <a:ext cx="886968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</a:rPr>
              <a:t>Background: The MST Paradigm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4" name="Rectangle 2"/>
          <p:cNvSpPr/>
          <p:nvPr/>
        </p:nvSpPr>
        <p:spPr>
          <a:xfrm>
            <a:off x="731520" y="1097280"/>
            <a:ext cx="2742840" cy="50400"/>
          </a:xfrm>
          <a:prstGeom prst="rect">
            <a:avLst/>
          </a:prstGeom>
          <a:solidFill>
            <a:srgbClr val="6c6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760" bIns="57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5" name="Rounded Rectangle 3"/>
          <p:cNvSpPr/>
          <p:nvPr/>
        </p:nvSpPr>
        <p:spPr>
          <a:xfrm>
            <a:off x="731520" y="1463040"/>
            <a:ext cx="5028840" cy="484596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6" name="TextBox 4"/>
          <p:cNvSpPr/>
          <p:nvPr/>
        </p:nvSpPr>
        <p:spPr>
          <a:xfrm>
            <a:off x="1005840" y="1645920"/>
            <a:ext cx="4480560" cy="364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00d2d3"/>
                </a:solidFill>
                <a:latin typeface="Calibri"/>
              </a:rPr>
              <a:t>Mnemonic Similarity Task (MST)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7" name="Rectangle 5"/>
          <p:cNvSpPr/>
          <p:nvPr/>
        </p:nvSpPr>
        <p:spPr>
          <a:xfrm>
            <a:off x="1005840" y="2011680"/>
            <a:ext cx="1828440" cy="50400"/>
          </a:xfrm>
          <a:prstGeom prst="rect">
            <a:avLst/>
          </a:prstGeom>
          <a:solidFill>
            <a:srgbClr val="6c6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760" bIns="57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28" name="TextBox 6"/>
          <p:cNvSpPr/>
          <p:nvPr/>
        </p:nvSpPr>
        <p:spPr>
          <a:xfrm>
            <a:off x="1005840" y="2286000"/>
            <a:ext cx="4571640" cy="3760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91"/>
              </a:spcAft>
            </a:pPr>
            <a:r>
              <a:rPr b="1" lang="en-US" sz="1300" spc="-1" strike="noStrike">
                <a:solidFill>
                  <a:srgbClr val="ccccdd"/>
                </a:solidFill>
                <a:latin typeface="Calibri"/>
              </a:rPr>
              <a:t>Developed by Stark et al. (2013)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91"/>
              </a:spcAft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91"/>
              </a:spcAft>
            </a:pPr>
            <a:r>
              <a:rPr b="1" lang="en-US" sz="1300" spc="-1" strike="noStrike">
                <a:solidFill>
                  <a:srgbClr val="ccccdd"/>
                </a:solidFill>
                <a:latin typeface="Calibri"/>
              </a:rPr>
              <a:t>Two-Phase Design: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91"/>
              </a:spcAft>
            </a:pPr>
            <a:r>
              <a:rPr b="1" lang="en-US" sz="1300" spc="-1" strike="noStrike">
                <a:solidFill>
                  <a:srgbClr val="ccccdd"/>
                </a:solidFill>
                <a:latin typeface="Calibri"/>
              </a:rPr>
              <a:t>  </a:t>
            </a:r>
            <a:r>
              <a:rPr b="1" lang="en-US" sz="1300" spc="-1" strike="noStrike">
                <a:solidFill>
                  <a:srgbClr val="ccccdd"/>
                </a:solidFill>
                <a:latin typeface="Calibri"/>
              </a:rPr>
              <a:t>Phase 1 — Encoding: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91"/>
              </a:spcAft>
            </a:pPr>
            <a:r>
              <a:rPr b="0" lang="en-US" sz="1300" spc="-1" strike="noStrike">
                <a:solidFill>
                  <a:srgbClr val="ccccdd"/>
                </a:solidFill>
                <a:latin typeface="Calibri"/>
              </a:rPr>
              <a:t>    • </a:t>
            </a:r>
            <a:r>
              <a:rPr b="0" lang="en-US" sz="1300" spc="-1" strike="noStrike">
                <a:solidFill>
                  <a:srgbClr val="ccccdd"/>
                </a:solidFill>
                <a:latin typeface="Calibri"/>
              </a:rPr>
              <a:t>Participants view object/scene images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91"/>
              </a:spcAft>
            </a:pPr>
            <a:r>
              <a:rPr b="0" lang="en-US" sz="1300" spc="-1" strike="noStrike">
                <a:solidFill>
                  <a:srgbClr val="ccccdd"/>
                </a:solidFill>
                <a:latin typeface="Calibri"/>
              </a:rPr>
              <a:t>    • </a:t>
            </a:r>
            <a:r>
              <a:rPr b="0" lang="en-US" sz="1300" spc="-1" strike="noStrike">
                <a:solidFill>
                  <a:srgbClr val="ccccdd"/>
                </a:solidFill>
                <a:latin typeface="Calibri"/>
              </a:rPr>
              <a:t>Incidental encoding via judgment tasks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91"/>
              </a:spcAft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91"/>
              </a:spcAft>
            </a:pPr>
            <a:r>
              <a:rPr b="1" lang="en-US" sz="1300" spc="-1" strike="noStrike">
                <a:solidFill>
                  <a:srgbClr val="ccccdd"/>
                </a:solidFill>
                <a:latin typeface="Calibri"/>
              </a:rPr>
              <a:t>  </a:t>
            </a:r>
            <a:r>
              <a:rPr b="1" lang="en-US" sz="1300" spc="-1" strike="noStrike">
                <a:solidFill>
                  <a:srgbClr val="ccccdd"/>
                </a:solidFill>
                <a:latin typeface="Calibri"/>
              </a:rPr>
              <a:t>Phase 2 — Recognition Test: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91"/>
              </a:spcAft>
            </a:pPr>
            <a:r>
              <a:rPr b="0" lang="en-US" sz="1300" spc="-1" strike="noStrike">
                <a:solidFill>
                  <a:srgbClr val="ccccdd"/>
                </a:solidFill>
                <a:latin typeface="Calibri"/>
              </a:rPr>
              <a:t>    • </a:t>
            </a:r>
            <a:r>
              <a:rPr b="0" lang="en-US" sz="1300" spc="-1" strike="noStrike">
                <a:solidFill>
                  <a:srgbClr val="ccccdd"/>
                </a:solidFill>
                <a:latin typeface="Calibri"/>
              </a:rPr>
              <a:t>Three-choice response: Old / Similar / New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91"/>
              </a:spcAft>
            </a:pPr>
            <a:r>
              <a:rPr b="0" lang="en-US" sz="1300" spc="-1" strike="noStrike">
                <a:solidFill>
                  <a:srgbClr val="ccccdd"/>
                </a:solidFill>
                <a:latin typeface="Calibri"/>
              </a:rPr>
              <a:t>    • </a:t>
            </a:r>
            <a:r>
              <a:rPr b="0" lang="en-US" sz="1300" spc="-1" strike="noStrike">
                <a:solidFill>
                  <a:srgbClr val="ccccdd"/>
                </a:solidFill>
                <a:latin typeface="Calibri"/>
              </a:rPr>
              <a:t>Tests memory discrimination ability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91"/>
              </a:spcAft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91"/>
              </a:spcAft>
            </a:pPr>
            <a:r>
              <a:rPr b="1" lang="en-US" sz="1300" spc="-1" strike="noStrike">
                <a:solidFill>
                  <a:srgbClr val="ccccdd"/>
                </a:solidFill>
                <a:latin typeface="Calibri"/>
              </a:rPr>
              <a:t>Why It Works: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91"/>
              </a:spcAft>
            </a:pPr>
            <a:r>
              <a:rPr b="0" lang="en-US" sz="1300" spc="-1" strike="noStrike">
                <a:solidFill>
                  <a:srgbClr val="ccccdd"/>
                </a:solidFill>
                <a:latin typeface="Calibri"/>
              </a:rPr>
              <a:t>  • </a:t>
            </a:r>
            <a:r>
              <a:rPr b="0" lang="en-US" sz="1300" spc="-1" strike="noStrike">
                <a:solidFill>
                  <a:srgbClr val="ccccdd"/>
                </a:solidFill>
                <a:latin typeface="Calibri"/>
              </a:rPr>
              <a:t>Lure items specifically tax pattern separation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91"/>
              </a:spcAft>
            </a:pPr>
            <a:r>
              <a:rPr b="0" lang="en-US" sz="1300" spc="-1" strike="noStrike">
                <a:solidFill>
                  <a:srgbClr val="ccccdd"/>
                </a:solidFill>
                <a:latin typeface="Calibri"/>
              </a:rPr>
              <a:t>  • </a:t>
            </a:r>
            <a:r>
              <a:rPr b="0" lang="en-US" sz="1300" spc="-1" strike="noStrike">
                <a:solidFill>
                  <a:srgbClr val="ccccdd"/>
                </a:solidFill>
                <a:latin typeface="Calibri"/>
              </a:rPr>
              <a:t>Graded similarity bins (1–5) parametrically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91"/>
              </a:spcAft>
            </a:pPr>
            <a:r>
              <a:rPr b="0" lang="en-US" sz="1300" spc="-1" strike="noStrike">
                <a:solidFill>
                  <a:srgbClr val="ccccdd"/>
                </a:solidFill>
                <a:latin typeface="Calibri"/>
              </a:rPr>
              <a:t>    </a:t>
            </a:r>
            <a:r>
              <a:rPr b="0" lang="en-US" sz="1300" spc="-1" strike="noStrike">
                <a:solidFill>
                  <a:srgbClr val="ccccdd"/>
                </a:solidFill>
                <a:latin typeface="Calibri"/>
              </a:rPr>
              <a:t>vary discrimination difficulty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29" name="Rounded Rectangle 7"/>
          <p:cNvSpPr/>
          <p:nvPr/>
        </p:nvSpPr>
        <p:spPr>
          <a:xfrm>
            <a:off x="6400800" y="1463040"/>
            <a:ext cx="5028840" cy="484596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0" name="TextBox 8"/>
          <p:cNvSpPr/>
          <p:nvPr/>
        </p:nvSpPr>
        <p:spPr>
          <a:xfrm>
            <a:off x="6675120" y="1645920"/>
            <a:ext cx="3657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ff6b6b"/>
                </a:solidFill>
                <a:latin typeface="Calibri"/>
              </a:rPr>
              <a:t>Three Stimulus Types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1" name="Rectangle 9"/>
          <p:cNvSpPr/>
          <p:nvPr/>
        </p:nvSpPr>
        <p:spPr>
          <a:xfrm>
            <a:off x="6675120" y="2011680"/>
            <a:ext cx="1828440" cy="50400"/>
          </a:xfrm>
          <a:prstGeom prst="rect">
            <a:avLst/>
          </a:prstGeom>
          <a:solidFill>
            <a:srgbClr val="6c6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760" bIns="57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2" name="Rounded Rectangle 10"/>
          <p:cNvSpPr/>
          <p:nvPr/>
        </p:nvSpPr>
        <p:spPr>
          <a:xfrm>
            <a:off x="6675120" y="2377440"/>
            <a:ext cx="4571640" cy="1188360"/>
          </a:xfrm>
          <a:prstGeom prst="roundRect">
            <a:avLst>
              <a:gd name="adj" fmla="val 5000"/>
            </a:avLst>
          </a:prstGeom>
          <a:solidFill>
            <a:srgbClr val="2e2e4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3" name="TextBox 11"/>
          <p:cNvSpPr/>
          <p:nvPr/>
        </p:nvSpPr>
        <p:spPr>
          <a:xfrm>
            <a:off x="6858000" y="2453760"/>
            <a:ext cx="41144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1dd1a1"/>
                </a:solidFill>
                <a:latin typeface="Calibri"/>
              </a:rPr>
              <a:t>TARGETS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4" name="TextBox 12"/>
          <p:cNvSpPr/>
          <p:nvPr/>
        </p:nvSpPr>
        <p:spPr>
          <a:xfrm>
            <a:off x="6858000" y="2697480"/>
            <a:ext cx="41144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ccccdd"/>
                </a:solidFill>
                <a:latin typeface="Calibri"/>
              </a:rPr>
              <a:t>Exact repetitions of studied items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5" name="TextBox 13"/>
          <p:cNvSpPr/>
          <p:nvPr/>
        </p:nvSpPr>
        <p:spPr>
          <a:xfrm>
            <a:off x="6858000" y="3017520"/>
            <a:ext cx="41144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999bb"/>
                </a:solidFill>
                <a:latin typeface="Calibri"/>
              </a:rPr>
              <a:t>→ </a:t>
            </a:r>
            <a:r>
              <a:rPr b="0" lang="en-US" sz="1200" spc="-1" strike="noStrike">
                <a:solidFill>
                  <a:srgbClr val="9999bb"/>
                </a:solidFill>
                <a:latin typeface="Calibri"/>
              </a:rPr>
              <a:t>Expected response: 'Old'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6" name="Rounded Rectangle 14"/>
          <p:cNvSpPr/>
          <p:nvPr/>
        </p:nvSpPr>
        <p:spPr>
          <a:xfrm>
            <a:off x="6675120" y="3840480"/>
            <a:ext cx="4571640" cy="1188360"/>
          </a:xfrm>
          <a:prstGeom prst="roundRect">
            <a:avLst>
              <a:gd name="adj" fmla="val 5000"/>
            </a:avLst>
          </a:prstGeom>
          <a:solidFill>
            <a:srgbClr val="2e2e4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37" name="TextBox 15"/>
          <p:cNvSpPr/>
          <p:nvPr/>
        </p:nvSpPr>
        <p:spPr>
          <a:xfrm>
            <a:off x="6858000" y="3916800"/>
            <a:ext cx="41144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d93d"/>
                </a:solidFill>
                <a:latin typeface="Calibri"/>
              </a:rPr>
              <a:t>LURES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8" name="TextBox 16"/>
          <p:cNvSpPr/>
          <p:nvPr/>
        </p:nvSpPr>
        <p:spPr>
          <a:xfrm>
            <a:off x="6858000" y="4160520"/>
            <a:ext cx="41144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ccccdd"/>
                </a:solidFill>
                <a:latin typeface="Calibri"/>
              </a:rPr>
              <a:t>Similar but not identical to studied items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39" name="TextBox 17"/>
          <p:cNvSpPr/>
          <p:nvPr/>
        </p:nvSpPr>
        <p:spPr>
          <a:xfrm>
            <a:off x="6858000" y="4480560"/>
            <a:ext cx="41144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999bb"/>
                </a:solidFill>
                <a:latin typeface="Calibri"/>
              </a:rPr>
              <a:t>→ </a:t>
            </a:r>
            <a:r>
              <a:rPr b="0" lang="en-US" sz="1200" spc="-1" strike="noStrike">
                <a:solidFill>
                  <a:srgbClr val="9999bb"/>
                </a:solidFill>
                <a:latin typeface="Calibri"/>
              </a:rPr>
              <a:t>Expected response: 'Similar'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0" name="Rounded Rectangle 18"/>
          <p:cNvSpPr/>
          <p:nvPr/>
        </p:nvSpPr>
        <p:spPr>
          <a:xfrm>
            <a:off x="6675120" y="5303520"/>
            <a:ext cx="4571640" cy="1188360"/>
          </a:xfrm>
          <a:prstGeom prst="roundRect">
            <a:avLst>
              <a:gd name="adj" fmla="val 5000"/>
            </a:avLst>
          </a:prstGeom>
          <a:solidFill>
            <a:srgbClr val="2e2e4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1" name="TextBox 19"/>
          <p:cNvSpPr/>
          <p:nvPr/>
        </p:nvSpPr>
        <p:spPr>
          <a:xfrm>
            <a:off x="6858000" y="5379840"/>
            <a:ext cx="41144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00d2d3"/>
                </a:solidFill>
                <a:latin typeface="Calibri"/>
              </a:rPr>
              <a:t>FOILS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2" name="TextBox 20"/>
          <p:cNvSpPr/>
          <p:nvPr/>
        </p:nvSpPr>
        <p:spPr>
          <a:xfrm>
            <a:off x="6858000" y="5623560"/>
            <a:ext cx="41144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ccccdd"/>
                </a:solidFill>
                <a:latin typeface="Calibri"/>
              </a:rPr>
              <a:t>Completely novel / unstudied items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3" name="TextBox 21"/>
          <p:cNvSpPr/>
          <p:nvPr/>
        </p:nvSpPr>
        <p:spPr>
          <a:xfrm>
            <a:off x="6858000" y="5943600"/>
            <a:ext cx="4114440" cy="27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200" spc="-1" strike="noStrike">
                <a:solidFill>
                  <a:srgbClr val="9999bb"/>
                </a:solidFill>
                <a:latin typeface="Calibri"/>
              </a:rPr>
              <a:t>→ </a:t>
            </a:r>
            <a:r>
              <a:rPr b="0" lang="en-US" sz="1200" spc="-1" strike="noStrike">
                <a:solidFill>
                  <a:srgbClr val="9999bb"/>
                </a:solidFill>
                <a:latin typeface="Calibri"/>
              </a:rPr>
              <a:t>Expected response: 'New'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TextBox 1"/>
          <p:cNvSpPr/>
          <p:nvPr/>
        </p:nvSpPr>
        <p:spPr>
          <a:xfrm>
            <a:off x="731520" y="457200"/>
            <a:ext cx="73148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</a:rPr>
              <a:t>Hypotheses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5" name="Rectangle 2"/>
          <p:cNvSpPr/>
          <p:nvPr/>
        </p:nvSpPr>
        <p:spPr>
          <a:xfrm>
            <a:off x="731520" y="1097280"/>
            <a:ext cx="1828440" cy="50400"/>
          </a:xfrm>
          <a:prstGeom prst="rect">
            <a:avLst/>
          </a:prstGeom>
          <a:solidFill>
            <a:srgbClr val="6c6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760" bIns="57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6" name="Rounded Rectangle 3"/>
          <p:cNvSpPr/>
          <p:nvPr/>
        </p:nvSpPr>
        <p:spPr>
          <a:xfrm>
            <a:off x="731520" y="1463040"/>
            <a:ext cx="5028840" cy="219420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7" name="TextBox 4"/>
          <p:cNvSpPr/>
          <p:nvPr/>
        </p:nvSpPr>
        <p:spPr>
          <a:xfrm>
            <a:off x="914400" y="1539360"/>
            <a:ext cx="45716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00d2d3"/>
                </a:solidFill>
                <a:latin typeface="Calibri"/>
              </a:rPr>
              <a:t>H1: Pattern Separation (LDI)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48" name="Rectangle 5"/>
          <p:cNvSpPr/>
          <p:nvPr/>
        </p:nvSpPr>
        <p:spPr>
          <a:xfrm>
            <a:off x="914400" y="1828800"/>
            <a:ext cx="1371240" cy="50400"/>
          </a:xfrm>
          <a:prstGeom prst="rect">
            <a:avLst/>
          </a:prstGeom>
          <a:solidFill>
            <a:srgbClr val="00d2d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760" bIns="57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49" name="TextBox 6"/>
          <p:cNvSpPr/>
          <p:nvPr/>
        </p:nvSpPr>
        <p:spPr>
          <a:xfrm>
            <a:off x="914400" y="1965960"/>
            <a:ext cx="457164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ccccdd"/>
                </a:solidFill>
                <a:latin typeface="Calibri"/>
              </a:rPr>
              <a:t>H₀: LDI = 0  (No pattern separation; lure discrimination</a:t>
            </a:r>
            <a:br>
              <a:rPr sz="1100"/>
            </a:br>
            <a:r>
              <a:rPr b="0" lang="en-US" sz="1100" spc="-1" strike="noStrike">
                <a:solidFill>
                  <a:srgbClr val="ccccdd"/>
                </a:solidFill>
                <a:latin typeface="Calibri"/>
              </a:rPr>
              <a:t>      equals foil response bias)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0" name="TextBox 7"/>
          <p:cNvSpPr/>
          <p:nvPr/>
        </p:nvSpPr>
        <p:spPr>
          <a:xfrm>
            <a:off x="914400" y="2560320"/>
            <a:ext cx="457164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dd1a1"/>
                </a:solidFill>
                <a:latin typeface="Calibri"/>
              </a:rPr>
              <a:t>H₁: LDI &gt; 0  (Significant pattern separation;</a:t>
            </a:r>
            <a:br>
              <a:rPr sz="1100"/>
            </a:br>
            <a:r>
              <a:rPr b="0" lang="en-US" sz="1100" spc="-1" strike="noStrike">
                <a:solidFill>
                  <a:srgbClr val="1dd1a1"/>
                </a:solidFill>
                <a:latin typeface="Calibri"/>
              </a:rPr>
              <a:t>      participants can distinguish lures from foils)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1" name="TextBox 8"/>
          <p:cNvSpPr/>
          <p:nvPr/>
        </p:nvSpPr>
        <p:spPr>
          <a:xfrm>
            <a:off x="914400" y="3154680"/>
            <a:ext cx="45716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9999bb"/>
                </a:solidFill>
                <a:latin typeface="Calibri"/>
              </a:rPr>
              <a:t>Test: One-sample t-test (one-tailed) per condition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2" name="Rounded Rectangle 9"/>
          <p:cNvSpPr/>
          <p:nvPr/>
        </p:nvSpPr>
        <p:spPr>
          <a:xfrm>
            <a:off x="6400800" y="1463040"/>
            <a:ext cx="5028840" cy="219420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3" name="TextBox 10"/>
          <p:cNvSpPr/>
          <p:nvPr/>
        </p:nvSpPr>
        <p:spPr>
          <a:xfrm>
            <a:off x="6583680" y="1539360"/>
            <a:ext cx="45716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a79bff"/>
                </a:solidFill>
                <a:latin typeface="Calibri"/>
              </a:rPr>
              <a:t>H2: Recognition Memory (REC)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4" name="Rectangle 11"/>
          <p:cNvSpPr/>
          <p:nvPr/>
        </p:nvSpPr>
        <p:spPr>
          <a:xfrm>
            <a:off x="6583680" y="1828800"/>
            <a:ext cx="1371240" cy="50400"/>
          </a:xfrm>
          <a:prstGeom prst="rect">
            <a:avLst/>
          </a:prstGeom>
          <a:solidFill>
            <a:srgbClr val="a79b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760" bIns="57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5" name="TextBox 12"/>
          <p:cNvSpPr/>
          <p:nvPr/>
        </p:nvSpPr>
        <p:spPr>
          <a:xfrm>
            <a:off x="6583680" y="1965960"/>
            <a:ext cx="457164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ccccdd"/>
                </a:solidFill>
                <a:latin typeface="Calibri"/>
              </a:rPr>
              <a:t>H₀: REC = 0  (No recognition memory; hit rate</a:t>
            </a:r>
            <a:br>
              <a:rPr sz="1100"/>
            </a:br>
            <a:r>
              <a:rPr b="0" lang="en-US" sz="1100" spc="-1" strike="noStrike">
                <a:solidFill>
                  <a:srgbClr val="ccccdd"/>
                </a:solidFill>
                <a:latin typeface="Calibri"/>
              </a:rPr>
              <a:t>      equals false alarm rate)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6" name="TextBox 13"/>
          <p:cNvSpPr/>
          <p:nvPr/>
        </p:nvSpPr>
        <p:spPr>
          <a:xfrm>
            <a:off x="6583680" y="2560320"/>
            <a:ext cx="457164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dd1a1"/>
                </a:solidFill>
                <a:latin typeface="Calibri"/>
              </a:rPr>
              <a:t>H₁: REC &gt; 0  (Significant recognition memory;</a:t>
            </a:r>
            <a:br>
              <a:rPr sz="1100"/>
            </a:br>
            <a:r>
              <a:rPr b="0" lang="en-US" sz="1100" spc="-1" strike="noStrike">
                <a:solidFill>
                  <a:srgbClr val="1dd1a1"/>
                </a:solidFill>
                <a:latin typeface="Calibri"/>
              </a:rPr>
              <a:t>      participants correctly identify targets)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7" name="TextBox 14"/>
          <p:cNvSpPr/>
          <p:nvPr/>
        </p:nvSpPr>
        <p:spPr>
          <a:xfrm>
            <a:off x="6583680" y="3154680"/>
            <a:ext cx="45716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9999bb"/>
                </a:solidFill>
                <a:latin typeface="Calibri"/>
              </a:rPr>
              <a:t>Test: One-sample t-test (one-tailed) per condition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58" name="Rounded Rectangle 15"/>
          <p:cNvSpPr/>
          <p:nvPr/>
        </p:nvSpPr>
        <p:spPr>
          <a:xfrm>
            <a:off x="3200400" y="3931920"/>
            <a:ext cx="5760360" cy="219420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59" name="TextBox 16"/>
          <p:cNvSpPr/>
          <p:nvPr/>
        </p:nvSpPr>
        <p:spPr>
          <a:xfrm>
            <a:off x="3383280" y="4008240"/>
            <a:ext cx="45716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d93d"/>
                </a:solidFill>
                <a:latin typeface="Calibri"/>
              </a:rPr>
              <a:t>H3: Similarity Effect on Lure Discrimination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0" name="Rectangle 17"/>
          <p:cNvSpPr/>
          <p:nvPr/>
        </p:nvSpPr>
        <p:spPr>
          <a:xfrm>
            <a:off x="3383280" y="4297680"/>
            <a:ext cx="1371240" cy="50400"/>
          </a:xfrm>
          <a:prstGeom prst="rect">
            <a:avLst/>
          </a:prstGeom>
          <a:solidFill>
            <a:srgbClr val="ffd9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760" bIns="57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1" name="TextBox 18"/>
          <p:cNvSpPr/>
          <p:nvPr/>
        </p:nvSpPr>
        <p:spPr>
          <a:xfrm>
            <a:off x="3383280" y="4434840"/>
            <a:ext cx="457164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ccccdd"/>
                </a:solidFill>
                <a:latin typeface="Calibri"/>
              </a:rPr>
              <a:t>H₀: Lure discrimination does not vary across</a:t>
            </a:r>
            <a:br>
              <a:rPr sz="1100"/>
            </a:br>
            <a:r>
              <a:rPr b="0" lang="en-US" sz="1100" spc="-1" strike="noStrike">
                <a:solidFill>
                  <a:srgbClr val="ccccdd"/>
                </a:solidFill>
                <a:latin typeface="Calibri"/>
              </a:rPr>
              <a:t>      similarity bins (1–5)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2" name="TextBox 19"/>
          <p:cNvSpPr/>
          <p:nvPr/>
        </p:nvSpPr>
        <p:spPr>
          <a:xfrm>
            <a:off x="3383280" y="5029200"/>
            <a:ext cx="457164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1dd1a1"/>
                </a:solidFill>
                <a:latin typeface="Calibri"/>
              </a:rPr>
              <a:t>H₁: Higher similarity lures (Bin 1) are harder to</a:t>
            </a:r>
            <a:br>
              <a:rPr sz="1100"/>
            </a:br>
            <a:r>
              <a:rPr b="0" lang="en-US" sz="1100" spc="-1" strike="noStrike">
                <a:solidFill>
                  <a:srgbClr val="1dd1a1"/>
                </a:solidFill>
                <a:latin typeface="Calibri"/>
              </a:rPr>
              <a:t>      discriminate than lower similarity lures (Bin 5)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3" name="TextBox 20"/>
          <p:cNvSpPr/>
          <p:nvPr/>
        </p:nvSpPr>
        <p:spPr>
          <a:xfrm>
            <a:off x="3383280" y="5623560"/>
            <a:ext cx="4571640" cy="24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000" spc="-1" strike="noStrike">
                <a:solidFill>
                  <a:srgbClr val="9999bb"/>
                </a:solidFill>
                <a:latin typeface="Calibri"/>
              </a:rPr>
              <a:t>Test: Descriptive analysis of response proportions across bins</a:t>
            </a:r>
            <a:endParaRPr b="0" lang="en-US" sz="10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TextBox 1"/>
          <p:cNvSpPr/>
          <p:nvPr/>
        </p:nvSpPr>
        <p:spPr>
          <a:xfrm>
            <a:off x="731520" y="457200"/>
            <a:ext cx="73148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</a:rPr>
              <a:t>Experiment Design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5" name="Rectangle 2"/>
          <p:cNvSpPr/>
          <p:nvPr/>
        </p:nvSpPr>
        <p:spPr>
          <a:xfrm>
            <a:off x="731520" y="1097280"/>
            <a:ext cx="2742840" cy="50400"/>
          </a:xfrm>
          <a:prstGeom prst="rect">
            <a:avLst/>
          </a:prstGeom>
          <a:solidFill>
            <a:srgbClr val="6c6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760" bIns="57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6" name="Rounded Rectangle 3"/>
          <p:cNvSpPr/>
          <p:nvPr/>
        </p:nvSpPr>
        <p:spPr>
          <a:xfrm>
            <a:off x="457200" y="1463040"/>
            <a:ext cx="3474360" cy="164556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67" name="TextBox 4"/>
          <p:cNvSpPr/>
          <p:nvPr/>
        </p:nvSpPr>
        <p:spPr>
          <a:xfrm>
            <a:off x="640080" y="1554480"/>
            <a:ext cx="31086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00d2d3"/>
                </a:solidFill>
                <a:latin typeface="Calibri"/>
              </a:rPr>
              <a:t>Study Design Overview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8" name="TextBox 5"/>
          <p:cNvSpPr/>
          <p:nvPr/>
        </p:nvSpPr>
        <p:spPr>
          <a:xfrm>
            <a:off x="640080" y="1874520"/>
            <a:ext cx="3108600" cy="958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60"/>
              </a:spcAft>
            </a:pPr>
            <a:r>
              <a:rPr b="0" lang="en-US" sz="1200" spc="-1" strike="noStrike">
                <a:solidFill>
                  <a:srgbClr val="ccccdd"/>
                </a:solidFill>
                <a:latin typeface="Calibri"/>
              </a:rPr>
              <a:t>  </a:t>
            </a:r>
            <a:r>
              <a:rPr b="0" lang="en-US" sz="1200" spc="-1" strike="noStrike">
                <a:solidFill>
                  <a:srgbClr val="ccccdd"/>
                </a:solidFill>
                <a:latin typeface="Calibri"/>
              </a:rPr>
              <a:t>Between-subjects design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60"/>
              </a:spcAft>
            </a:pPr>
            <a:r>
              <a:rPr b="0" lang="en-US" sz="1200" spc="-1" strike="noStrike">
                <a:solidFill>
                  <a:srgbClr val="ccccdd"/>
                </a:solidFill>
                <a:latin typeface="Calibri"/>
              </a:rPr>
              <a:t>  </a:t>
            </a:r>
            <a:r>
              <a:rPr b="0" lang="en-US" sz="1200" spc="-1" strike="noStrike">
                <a:solidFill>
                  <a:srgbClr val="ccccdd"/>
                </a:solidFill>
                <a:latin typeface="Calibri"/>
              </a:rPr>
              <a:t>N = 160 participants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60"/>
              </a:spcAft>
            </a:pPr>
            <a:r>
              <a:rPr b="0" lang="en-US" sz="1200" spc="-1" strike="noStrike">
                <a:solidFill>
                  <a:srgbClr val="ccccdd"/>
                </a:solidFill>
                <a:latin typeface="Calibri"/>
              </a:rPr>
              <a:t>  </a:t>
            </a:r>
            <a:r>
              <a:rPr b="0" lang="en-US" sz="1200" spc="-1" strike="noStrike">
                <a:solidFill>
                  <a:srgbClr val="ccccdd"/>
                </a:solidFill>
                <a:latin typeface="Calibri"/>
              </a:rPr>
              <a:t>192 stimuli per participant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60"/>
              </a:spcAft>
            </a:pPr>
            <a:r>
              <a:rPr b="0" lang="en-US" sz="1200" spc="-1" strike="noStrike">
                <a:solidFill>
                  <a:srgbClr val="ccccdd"/>
                </a:solidFill>
                <a:latin typeface="Calibri"/>
              </a:rPr>
              <a:t>  </a:t>
            </a:r>
            <a:r>
              <a:rPr b="0" lang="en-US" sz="1200" spc="-1" strike="noStrike">
                <a:solidFill>
                  <a:srgbClr val="ccccdd"/>
                </a:solidFill>
                <a:latin typeface="Calibri"/>
              </a:rPr>
              <a:t>~150 test trials each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69" name="Rounded Rectangle 6"/>
          <p:cNvSpPr/>
          <p:nvPr/>
        </p:nvSpPr>
        <p:spPr>
          <a:xfrm>
            <a:off x="4206240" y="1463040"/>
            <a:ext cx="3474360" cy="1645560"/>
          </a:xfrm>
          <a:prstGeom prst="roundRect">
            <a:avLst>
              <a:gd name="adj" fmla="val 5000"/>
            </a:avLst>
          </a:prstGeom>
          <a:solidFill>
            <a:srgbClr val="ff6b6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0" name="TextBox 7"/>
          <p:cNvSpPr/>
          <p:nvPr/>
        </p:nvSpPr>
        <p:spPr>
          <a:xfrm>
            <a:off x="4389120" y="1554480"/>
            <a:ext cx="310860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ffff"/>
                </a:solidFill>
                <a:latin typeface="Calibri"/>
              </a:rPr>
              <a:t>Independent Variable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1" name="Rectangle 8"/>
          <p:cNvSpPr/>
          <p:nvPr/>
        </p:nvSpPr>
        <p:spPr>
          <a:xfrm>
            <a:off x="4389120" y="1874520"/>
            <a:ext cx="1371240" cy="5040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760" bIns="57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2" name="TextBox 9"/>
          <p:cNvSpPr/>
          <p:nvPr/>
        </p:nvSpPr>
        <p:spPr>
          <a:xfrm>
            <a:off x="4389120" y="2011680"/>
            <a:ext cx="3108600" cy="536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91"/>
              </a:spcAft>
            </a:pPr>
            <a:r>
              <a:rPr b="1" lang="en-US" sz="1300" spc="-1" strike="noStrike">
                <a:solidFill>
                  <a:srgbClr val="ffffff"/>
                </a:solidFill>
                <a:latin typeface="Calibri"/>
              </a:rPr>
              <a:t>Encoding Condition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91"/>
              </a:spcAft>
            </a:pP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  </a:t>
            </a:r>
            <a:r>
              <a:rPr b="0" lang="en-US" sz="1300" spc="-1" strike="noStrike">
                <a:solidFill>
                  <a:srgbClr val="ffffff"/>
                </a:solidFill>
                <a:latin typeface="Calibri"/>
              </a:rPr>
              <a:t>Item Only / Task Only / Both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3" name="Rounded Rectangle 10"/>
          <p:cNvSpPr/>
          <p:nvPr/>
        </p:nvSpPr>
        <p:spPr>
          <a:xfrm>
            <a:off x="7955280" y="1463040"/>
            <a:ext cx="3748680" cy="164556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4" name="TextBox 11"/>
          <p:cNvSpPr/>
          <p:nvPr/>
        </p:nvSpPr>
        <p:spPr>
          <a:xfrm>
            <a:off x="8138160" y="1554480"/>
            <a:ext cx="338292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d93d"/>
                </a:solidFill>
                <a:latin typeface="Calibri"/>
              </a:rPr>
              <a:t>Dependent Variables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5" name="Rectangle 12"/>
          <p:cNvSpPr/>
          <p:nvPr/>
        </p:nvSpPr>
        <p:spPr>
          <a:xfrm>
            <a:off x="8138160" y="1874520"/>
            <a:ext cx="1371240" cy="50400"/>
          </a:xfrm>
          <a:prstGeom prst="rect">
            <a:avLst/>
          </a:prstGeom>
          <a:solidFill>
            <a:srgbClr val="ffd9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760" bIns="57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6" name="TextBox 13"/>
          <p:cNvSpPr/>
          <p:nvPr/>
        </p:nvSpPr>
        <p:spPr>
          <a:xfrm>
            <a:off x="8138160" y="2011680"/>
            <a:ext cx="3382920" cy="72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60"/>
              </a:spcAft>
            </a:pPr>
            <a:r>
              <a:rPr b="0" lang="en-US" sz="1200" spc="-1" strike="noStrike">
                <a:solidFill>
                  <a:srgbClr val="ccccdd"/>
                </a:solidFill>
                <a:latin typeface="Calibri"/>
              </a:rPr>
              <a:t>  </a:t>
            </a:r>
            <a:r>
              <a:rPr b="0" lang="en-US" sz="1200" spc="-1" strike="noStrike">
                <a:solidFill>
                  <a:srgbClr val="ccccdd"/>
                </a:solidFill>
                <a:latin typeface="Calibri"/>
              </a:rPr>
              <a:t>LDI (Lure Discrimination Index)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60"/>
              </a:spcAft>
            </a:pPr>
            <a:r>
              <a:rPr b="0" lang="en-US" sz="1200" spc="-1" strike="noStrike">
                <a:solidFill>
                  <a:srgbClr val="ccccdd"/>
                </a:solidFill>
                <a:latin typeface="Calibri"/>
              </a:rPr>
              <a:t>  </a:t>
            </a:r>
            <a:r>
              <a:rPr b="0" lang="en-US" sz="1200" spc="-1" strike="noStrike">
                <a:solidFill>
                  <a:srgbClr val="ccccdd"/>
                </a:solidFill>
                <a:latin typeface="Calibri"/>
              </a:rPr>
              <a:t>REC (Recognition Memory)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60"/>
              </a:spcAft>
            </a:pPr>
            <a:r>
              <a:rPr b="0" lang="en-US" sz="1200" spc="-1" strike="noStrike">
                <a:solidFill>
                  <a:srgbClr val="ccccdd"/>
                </a:solidFill>
                <a:latin typeface="Calibri"/>
              </a:rPr>
              <a:t>  </a:t>
            </a:r>
            <a:r>
              <a:rPr b="0" lang="en-US" sz="1200" spc="-1" strike="noStrike">
                <a:solidFill>
                  <a:srgbClr val="ccccdd"/>
                </a:solidFill>
                <a:latin typeface="Calibri"/>
              </a:rPr>
              <a:t>Hit Rate  |  Reaction Time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7" name="Rounded Rectangle 14"/>
          <p:cNvSpPr/>
          <p:nvPr/>
        </p:nvSpPr>
        <p:spPr>
          <a:xfrm>
            <a:off x="457200" y="3383280"/>
            <a:ext cx="3474360" cy="155412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78" name="TextBox 15"/>
          <p:cNvSpPr/>
          <p:nvPr/>
        </p:nvSpPr>
        <p:spPr>
          <a:xfrm>
            <a:off x="640080" y="3474720"/>
            <a:ext cx="3108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00d2d3"/>
                </a:solidFill>
                <a:latin typeface="Calibri"/>
              </a:rPr>
              <a:t>Item Only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79" name="TextBox 16"/>
          <p:cNvSpPr/>
          <p:nvPr/>
        </p:nvSpPr>
        <p:spPr>
          <a:xfrm>
            <a:off x="640080" y="3794760"/>
            <a:ext cx="31086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N = 56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0" name="TextBox 17"/>
          <p:cNvSpPr/>
          <p:nvPr/>
        </p:nvSpPr>
        <p:spPr>
          <a:xfrm>
            <a:off x="640080" y="4160520"/>
            <a:ext cx="310860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ccccdd"/>
                </a:solidFill>
                <a:latin typeface="Calibri"/>
              </a:rPr>
              <a:t>Indoor/outdoor item judgments</a:t>
            </a:r>
            <a:br>
              <a:rPr sz="1100"/>
            </a:br>
            <a:r>
              <a:rPr b="0" lang="en-US" sz="1100" spc="-1" strike="noStrike">
                <a:solidFill>
                  <a:srgbClr val="ccccdd"/>
                </a:solidFill>
                <a:latin typeface="Calibri"/>
              </a:rPr>
              <a:t>during encoding phase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1" name="Rounded Rectangle 18"/>
          <p:cNvSpPr/>
          <p:nvPr/>
        </p:nvSpPr>
        <p:spPr>
          <a:xfrm>
            <a:off x="4297680" y="3383280"/>
            <a:ext cx="3474360" cy="155412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2" name="TextBox 19"/>
          <p:cNvSpPr/>
          <p:nvPr/>
        </p:nvSpPr>
        <p:spPr>
          <a:xfrm>
            <a:off x="4480560" y="3474720"/>
            <a:ext cx="3108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a79bff"/>
                </a:solidFill>
                <a:latin typeface="Calibri"/>
              </a:rPr>
              <a:t>Task Only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3" name="TextBox 20"/>
          <p:cNvSpPr/>
          <p:nvPr/>
        </p:nvSpPr>
        <p:spPr>
          <a:xfrm>
            <a:off x="4480560" y="3794760"/>
            <a:ext cx="31086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N = 53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4" name="TextBox 21"/>
          <p:cNvSpPr/>
          <p:nvPr/>
        </p:nvSpPr>
        <p:spPr>
          <a:xfrm>
            <a:off x="4480560" y="4160520"/>
            <a:ext cx="310860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ccccdd"/>
                </a:solidFill>
                <a:latin typeface="Calibri"/>
              </a:rPr>
              <a:t>Task-based encoding</a:t>
            </a:r>
            <a:br>
              <a:rPr sz="1100"/>
            </a:br>
            <a:r>
              <a:rPr b="0" lang="en-US" sz="1100" spc="-1" strike="noStrike">
                <a:solidFill>
                  <a:srgbClr val="ccccdd"/>
                </a:solidFill>
                <a:latin typeface="Calibri"/>
              </a:rPr>
              <a:t>(procedural judgments)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5" name="Rounded Rectangle 22"/>
          <p:cNvSpPr/>
          <p:nvPr/>
        </p:nvSpPr>
        <p:spPr>
          <a:xfrm>
            <a:off x="8138160" y="3383280"/>
            <a:ext cx="3474360" cy="155412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86" name="TextBox 23"/>
          <p:cNvSpPr/>
          <p:nvPr/>
        </p:nvSpPr>
        <p:spPr>
          <a:xfrm>
            <a:off x="8321040" y="3474720"/>
            <a:ext cx="310860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ff6b6b"/>
                </a:solidFill>
                <a:latin typeface="Calibri"/>
              </a:rPr>
              <a:t>Both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7" name="TextBox 24"/>
          <p:cNvSpPr/>
          <p:nvPr/>
        </p:nvSpPr>
        <p:spPr>
          <a:xfrm>
            <a:off x="8321040" y="3794760"/>
            <a:ext cx="310860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fffff"/>
                </a:solidFill>
                <a:latin typeface="Calibri"/>
              </a:rPr>
              <a:t>N = 51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8" name="TextBox 25"/>
          <p:cNvSpPr/>
          <p:nvPr/>
        </p:nvSpPr>
        <p:spPr>
          <a:xfrm>
            <a:off x="8321040" y="4160520"/>
            <a:ext cx="310860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ccccdd"/>
                </a:solidFill>
                <a:latin typeface="Calibri"/>
              </a:rPr>
              <a:t>Combined item + task</a:t>
            </a:r>
            <a:br>
              <a:rPr sz="1100"/>
            </a:br>
            <a:r>
              <a:rPr b="0" lang="en-US" sz="1100" spc="-1" strike="noStrike">
                <a:solidFill>
                  <a:srgbClr val="ccccdd"/>
                </a:solidFill>
                <a:latin typeface="Calibri"/>
              </a:rPr>
              <a:t>encoding conditions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89" name="Rounded Rectangle 26"/>
          <p:cNvSpPr/>
          <p:nvPr/>
        </p:nvSpPr>
        <p:spPr>
          <a:xfrm>
            <a:off x="457200" y="5212080"/>
            <a:ext cx="11246760" cy="137124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0" name="TextBox 27"/>
          <p:cNvSpPr/>
          <p:nvPr/>
        </p:nvSpPr>
        <p:spPr>
          <a:xfrm>
            <a:off x="731520" y="5303520"/>
            <a:ext cx="27428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d93d"/>
                </a:solidFill>
                <a:latin typeface="Calibri"/>
              </a:rPr>
              <a:t>Procedure Flow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1" name="TextBox 28"/>
          <p:cNvSpPr/>
          <p:nvPr/>
        </p:nvSpPr>
        <p:spPr>
          <a:xfrm>
            <a:off x="731520" y="5623560"/>
            <a:ext cx="10789560" cy="5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60"/>
              </a:spcAft>
            </a:pPr>
            <a:r>
              <a:rPr b="0" lang="en-US" sz="1200" spc="-1" strike="noStrike">
                <a:solidFill>
                  <a:srgbClr val="ccccdd"/>
                </a:solidFill>
                <a:latin typeface="Calibri"/>
              </a:rPr>
              <a:t>1. Encoding --&gt; View 192 images with condition-specific task     2. Test --&gt; ~150 trials: Old / Similar / New responses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60"/>
              </a:spcAft>
            </a:pPr>
            <a:r>
              <a:rPr b="0" lang="en-US" sz="1200" spc="-1" strike="noStrike">
                <a:solidFill>
                  <a:srgbClr val="ccccdd"/>
                </a:solidFill>
                <a:latin typeface="Calibri"/>
              </a:rPr>
              <a:t>3. Lures matched to similarity bins (1=most similar, 5=least)   4. Responses &amp; reaction times recorded per trial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TextBox 1"/>
          <p:cNvSpPr/>
          <p:nvPr/>
        </p:nvSpPr>
        <p:spPr>
          <a:xfrm>
            <a:off x="731520" y="457200"/>
            <a:ext cx="45716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</a:rPr>
              <a:t>Methods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3" name="Rectangle 2"/>
          <p:cNvSpPr/>
          <p:nvPr/>
        </p:nvSpPr>
        <p:spPr>
          <a:xfrm>
            <a:off x="731520" y="1097280"/>
            <a:ext cx="1828440" cy="50400"/>
          </a:xfrm>
          <a:prstGeom prst="rect">
            <a:avLst/>
          </a:prstGeom>
          <a:solidFill>
            <a:srgbClr val="6c6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760" bIns="57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4" name="Rounded Rectangle 3"/>
          <p:cNvSpPr/>
          <p:nvPr/>
        </p:nvSpPr>
        <p:spPr>
          <a:xfrm>
            <a:off x="731520" y="1554480"/>
            <a:ext cx="5028840" cy="201132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5" name="TextBox 4"/>
          <p:cNvSpPr/>
          <p:nvPr/>
        </p:nvSpPr>
        <p:spPr>
          <a:xfrm>
            <a:off x="1005840" y="1691640"/>
            <a:ext cx="36572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00d2d3"/>
                </a:solidFill>
                <a:latin typeface="Calibri"/>
              </a:rPr>
              <a:t>Data Processing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6" name="TextBox 5"/>
          <p:cNvSpPr/>
          <p:nvPr/>
        </p:nvSpPr>
        <p:spPr>
          <a:xfrm>
            <a:off x="1005840" y="2103120"/>
            <a:ext cx="4571640" cy="103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91"/>
              </a:spcAft>
            </a:pPr>
            <a:r>
              <a:rPr b="0" lang="en-US" sz="1300" spc="-1" strike="noStrike">
                <a:solidFill>
                  <a:srgbClr val="ccccdd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ccccdd"/>
                </a:solidFill>
                <a:latin typeface="Calibri"/>
              </a:rPr>
              <a:t>Analyses in R (v4.5.2) via R Markdown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91"/>
              </a:spcAft>
            </a:pPr>
            <a:r>
              <a:rPr b="0" lang="en-US" sz="1300" spc="-1" strike="noStrike">
                <a:solidFill>
                  <a:srgbClr val="ccccdd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ccccdd"/>
                </a:solidFill>
                <a:latin typeface="Calibri"/>
              </a:rPr>
              <a:t>CSV files loaded programmatically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91"/>
              </a:spcAft>
            </a:pPr>
            <a:r>
              <a:rPr b="0" lang="en-US" sz="1300" spc="-1" strike="noStrike">
                <a:solidFill>
                  <a:srgbClr val="ccccdd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ccccdd"/>
                </a:solidFill>
                <a:latin typeface="Calibri"/>
              </a:rPr>
              <a:t>Stimuli classified: Target ('a'-suffix), Lure ('b'-suffix), Foil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91"/>
              </a:spcAft>
            </a:pPr>
            <a:r>
              <a:rPr b="0" lang="en-US" sz="1300" spc="-1" strike="noStrike">
                <a:solidFill>
                  <a:srgbClr val="ccccdd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ccccdd"/>
                </a:solidFill>
                <a:latin typeface="Calibri"/>
              </a:rPr>
              <a:t>Responses coded: Old (o), Similar (s), New (n)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7" name="Rounded Rectangle 6"/>
          <p:cNvSpPr/>
          <p:nvPr/>
        </p:nvSpPr>
        <p:spPr>
          <a:xfrm>
            <a:off x="731520" y="3840480"/>
            <a:ext cx="5028840" cy="255996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198" name="TextBox 7"/>
          <p:cNvSpPr/>
          <p:nvPr/>
        </p:nvSpPr>
        <p:spPr>
          <a:xfrm>
            <a:off x="1005840" y="3977640"/>
            <a:ext cx="36572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ff6b6b"/>
                </a:solidFill>
                <a:latin typeface="Calibri"/>
              </a:rPr>
              <a:t>Performance Metrics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199" name="TextBox 8"/>
          <p:cNvSpPr/>
          <p:nvPr/>
        </p:nvSpPr>
        <p:spPr>
          <a:xfrm>
            <a:off x="1005840" y="4389120"/>
            <a:ext cx="4571640" cy="1280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91"/>
              </a:spcAft>
            </a:pPr>
            <a:r>
              <a:rPr b="0" lang="en-US" sz="1300" spc="-1" strike="noStrike">
                <a:solidFill>
                  <a:srgbClr val="ccccdd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ccccdd"/>
                </a:solidFill>
                <a:latin typeface="Calibri"/>
              </a:rPr>
              <a:t>Hit Rate = P('Old' | Target)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91"/>
              </a:spcAft>
            </a:pPr>
            <a:r>
              <a:rPr b="0" lang="en-US" sz="1300" spc="-1" strike="noStrike">
                <a:solidFill>
                  <a:srgbClr val="ccccdd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ccccdd"/>
                </a:solidFill>
                <a:latin typeface="Calibri"/>
              </a:rPr>
              <a:t>False Alarm Rate = P('Old' | Foil)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91"/>
              </a:spcAft>
            </a:pPr>
            <a:r>
              <a:rPr b="0" lang="en-US" sz="1300" spc="-1" strike="noStrike">
                <a:solidFill>
                  <a:srgbClr val="ccccdd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ccccdd"/>
                </a:solidFill>
                <a:latin typeface="Calibri"/>
              </a:rPr>
              <a:t>Correct Rejection Rate = P('New' | Foil)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91"/>
              </a:spcAft>
            </a:pPr>
            <a:r>
              <a:rPr b="0" lang="en-US" sz="1300" spc="-1" strike="noStrike">
                <a:solidFill>
                  <a:srgbClr val="ccccdd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ccccdd"/>
                </a:solidFill>
                <a:latin typeface="Calibri"/>
              </a:rPr>
              <a:t>LDI = P('Similar'|Lure) − P('Similar'|Foil)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91"/>
              </a:spcAft>
            </a:pPr>
            <a:r>
              <a:rPr b="0" lang="en-US" sz="1300" spc="-1" strike="noStrike">
                <a:solidFill>
                  <a:srgbClr val="ccccdd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ccccdd"/>
                </a:solidFill>
                <a:latin typeface="Calibri"/>
              </a:rPr>
              <a:t>REC = P('Old'|Target) − P('Old'|Foil)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0" name="Rounded Rectangle 9"/>
          <p:cNvSpPr/>
          <p:nvPr/>
        </p:nvSpPr>
        <p:spPr>
          <a:xfrm>
            <a:off x="6400800" y="1554480"/>
            <a:ext cx="5028840" cy="484596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1" name="TextBox 10"/>
          <p:cNvSpPr/>
          <p:nvPr/>
        </p:nvSpPr>
        <p:spPr>
          <a:xfrm>
            <a:off x="6675120" y="1691640"/>
            <a:ext cx="3657240" cy="39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ffd93d"/>
                </a:solidFill>
                <a:latin typeface="Calibri"/>
              </a:rPr>
              <a:t>Statistical Approach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2" name="TextBox 11"/>
          <p:cNvSpPr/>
          <p:nvPr/>
        </p:nvSpPr>
        <p:spPr>
          <a:xfrm>
            <a:off x="6675120" y="2103120"/>
            <a:ext cx="4571640" cy="3512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91"/>
              </a:spcAft>
            </a:pPr>
            <a:r>
              <a:rPr b="1" lang="en-US" sz="1300" spc="-1" strike="noStrike">
                <a:solidFill>
                  <a:srgbClr val="ccccdd"/>
                </a:solidFill>
                <a:latin typeface="Calibri"/>
              </a:rPr>
              <a:t>Descriptive Statistics: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91"/>
              </a:spcAft>
            </a:pPr>
            <a:r>
              <a:rPr b="0" lang="en-US" sz="1300" spc="-1" strike="noStrike">
                <a:solidFill>
                  <a:srgbClr val="ccccdd"/>
                </a:solidFill>
                <a:latin typeface="Calibri"/>
              </a:rPr>
              <a:t>  • </a:t>
            </a:r>
            <a:r>
              <a:rPr b="0" lang="en-US" sz="1300" spc="-1" strike="noStrike">
                <a:solidFill>
                  <a:srgbClr val="ccccdd"/>
                </a:solidFill>
                <a:latin typeface="Calibri"/>
              </a:rPr>
              <a:t>Mean, SD, Median for all metrics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91"/>
              </a:spcAft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91"/>
              </a:spcAft>
            </a:pPr>
            <a:r>
              <a:rPr b="1" lang="en-US" sz="1300" spc="-1" strike="noStrike">
                <a:solidFill>
                  <a:srgbClr val="ccccdd"/>
                </a:solidFill>
                <a:latin typeface="Calibri"/>
              </a:rPr>
              <a:t>Normality Assessment: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91"/>
              </a:spcAft>
            </a:pPr>
            <a:r>
              <a:rPr b="0" lang="en-US" sz="1300" spc="-1" strike="noStrike">
                <a:solidFill>
                  <a:srgbClr val="ccccdd"/>
                </a:solidFill>
                <a:latin typeface="Calibri"/>
              </a:rPr>
              <a:t>  • </a:t>
            </a:r>
            <a:r>
              <a:rPr b="0" lang="en-US" sz="1300" spc="-1" strike="noStrike">
                <a:solidFill>
                  <a:srgbClr val="ccccdd"/>
                </a:solidFill>
                <a:latin typeface="Calibri"/>
              </a:rPr>
              <a:t>Shapiro-Wilk tests for LDI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91"/>
              </a:spcAft>
            </a:pPr>
            <a:r>
              <a:rPr b="0" lang="en-US" sz="1300" spc="-1" strike="noStrike">
                <a:solidFill>
                  <a:srgbClr val="ccccdd"/>
                </a:solidFill>
                <a:latin typeface="Calibri"/>
              </a:rPr>
              <a:t>  • </a:t>
            </a:r>
            <a:r>
              <a:rPr b="0" lang="en-US" sz="1300" spc="-1" strike="noStrike">
                <a:solidFill>
                  <a:srgbClr val="ccccdd"/>
                </a:solidFill>
                <a:latin typeface="Calibri"/>
              </a:rPr>
              <a:t>Normal &amp; t-distribution comparison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91"/>
              </a:spcAft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91"/>
              </a:spcAft>
            </a:pPr>
            <a:r>
              <a:rPr b="1" lang="en-US" sz="1300" spc="-1" strike="noStrike">
                <a:solidFill>
                  <a:srgbClr val="ccccdd"/>
                </a:solidFill>
                <a:latin typeface="Calibri"/>
              </a:rPr>
              <a:t>Hypothesis Testing: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91"/>
              </a:spcAft>
            </a:pPr>
            <a:r>
              <a:rPr b="0" lang="en-US" sz="1300" spc="-1" strike="noStrike">
                <a:solidFill>
                  <a:srgbClr val="ccccdd"/>
                </a:solidFill>
                <a:latin typeface="Calibri"/>
              </a:rPr>
              <a:t>  • </a:t>
            </a:r>
            <a:r>
              <a:rPr b="0" lang="en-US" sz="1300" spc="-1" strike="noStrike">
                <a:solidFill>
                  <a:srgbClr val="ccccdd"/>
                </a:solidFill>
                <a:latin typeface="Calibri"/>
              </a:rPr>
              <a:t>One-sample t-tests (LDI &gt; 0, REC &gt; 0)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91"/>
              </a:spcAft>
            </a:pPr>
            <a:r>
              <a:rPr b="0" lang="en-US" sz="1300" spc="-1" strike="noStrike">
                <a:solidFill>
                  <a:srgbClr val="ccccdd"/>
                </a:solidFill>
                <a:latin typeface="Calibri"/>
              </a:rPr>
              <a:t>  • </a:t>
            </a:r>
            <a:r>
              <a:rPr b="0" lang="en-US" sz="1300" spc="-1" strike="noStrike">
                <a:solidFill>
                  <a:srgbClr val="ccccdd"/>
                </a:solidFill>
                <a:latin typeface="Calibri"/>
              </a:rPr>
              <a:t>Cohen's d effect sizes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91"/>
              </a:spcAft>
            </a:pPr>
            <a:r>
              <a:rPr b="0" lang="en-US" sz="1300" spc="-1" strike="noStrike">
                <a:solidFill>
                  <a:srgbClr val="ccccdd"/>
                </a:solidFill>
                <a:latin typeface="Calibri"/>
              </a:rPr>
              <a:t>  • </a:t>
            </a:r>
            <a:r>
              <a:rPr b="0" lang="en-US" sz="1300" spc="-1" strike="noStrike">
                <a:solidFill>
                  <a:srgbClr val="ccccdd"/>
                </a:solidFill>
                <a:latin typeface="Calibri"/>
              </a:rPr>
              <a:t>α = .05 significance level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91"/>
              </a:spcAft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91"/>
              </a:spcAft>
            </a:pPr>
            <a:r>
              <a:rPr b="1" lang="en-US" sz="1300" spc="-1" strike="noStrike">
                <a:solidFill>
                  <a:srgbClr val="ccccdd"/>
                </a:solidFill>
                <a:latin typeface="Calibri"/>
              </a:rPr>
              <a:t>RT Processing: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91"/>
              </a:spcAft>
            </a:pPr>
            <a:r>
              <a:rPr b="0" lang="en-US" sz="1300" spc="-1" strike="noStrike">
                <a:solidFill>
                  <a:srgbClr val="ccccdd"/>
                </a:solidFill>
                <a:latin typeface="Calibri"/>
              </a:rPr>
              <a:t>  • </a:t>
            </a:r>
            <a:r>
              <a:rPr b="0" lang="en-US" sz="1300" spc="-1" strike="noStrike">
                <a:solidFill>
                  <a:srgbClr val="ccccdd"/>
                </a:solidFill>
                <a:latin typeface="Calibri"/>
              </a:rPr>
              <a:t>Values above 99th percentile excluded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TextBox 1"/>
          <p:cNvSpPr/>
          <p:nvPr/>
        </p:nvSpPr>
        <p:spPr>
          <a:xfrm>
            <a:off x="731520" y="457200"/>
            <a:ext cx="91436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</a:rPr>
              <a:t>Results: Hypothesis Testing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4" name="Rectangle 2"/>
          <p:cNvSpPr/>
          <p:nvPr/>
        </p:nvSpPr>
        <p:spPr>
          <a:xfrm>
            <a:off x="731520" y="1097280"/>
            <a:ext cx="2742840" cy="50400"/>
          </a:xfrm>
          <a:prstGeom prst="rect">
            <a:avLst/>
          </a:prstGeom>
          <a:solidFill>
            <a:srgbClr val="6c6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760" bIns="57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5" name="Rounded Rectangle 3"/>
          <p:cNvSpPr/>
          <p:nvPr/>
        </p:nvSpPr>
        <p:spPr>
          <a:xfrm>
            <a:off x="457200" y="1463040"/>
            <a:ext cx="5486040" cy="228564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6" name="TextBox 4"/>
          <p:cNvSpPr/>
          <p:nvPr/>
        </p:nvSpPr>
        <p:spPr>
          <a:xfrm>
            <a:off x="731520" y="1600200"/>
            <a:ext cx="45716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1dd1a1"/>
                </a:solidFill>
                <a:latin typeface="Calibri"/>
              </a:rPr>
              <a:t>H1: LDI &gt; 0  →  REJECTED H₀ 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7" name="Rectangle 5"/>
          <p:cNvSpPr/>
          <p:nvPr/>
        </p:nvSpPr>
        <p:spPr>
          <a:xfrm>
            <a:off x="731520" y="1965960"/>
            <a:ext cx="1828440" cy="50400"/>
          </a:xfrm>
          <a:prstGeom prst="rect">
            <a:avLst/>
          </a:prstGeom>
          <a:solidFill>
            <a:srgbClr val="1dd1a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760" bIns="57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08" name="TextBox 6"/>
          <p:cNvSpPr/>
          <p:nvPr/>
        </p:nvSpPr>
        <p:spPr>
          <a:xfrm>
            <a:off x="731520" y="2148840"/>
            <a:ext cx="502884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60"/>
              </a:spcAft>
            </a:pPr>
            <a:r>
              <a:rPr b="1" lang="en-US" sz="1200" spc="-1" strike="noStrike">
                <a:solidFill>
                  <a:srgbClr val="ccccdd"/>
                </a:solidFill>
                <a:latin typeface="Calibri"/>
              </a:rPr>
              <a:t>All conditions show significant pattern separation: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60"/>
              </a:spcAft>
            </a:pPr>
            <a:r>
              <a:rPr b="0" lang="en-US" sz="1200" spc="-1" strike="noStrike">
                <a:solidFill>
                  <a:srgbClr val="ccccdd"/>
                </a:solidFill>
                <a:latin typeface="Calibri"/>
              </a:rPr>
              <a:t>  • </a:t>
            </a:r>
            <a:r>
              <a:rPr b="0" lang="en-US" sz="1200" spc="-1" strike="noStrike">
                <a:solidFill>
                  <a:srgbClr val="ccccdd"/>
                </a:solidFill>
                <a:latin typeface="Calibri"/>
              </a:rPr>
              <a:t>Item Only: t(55) = 14.09, p &lt; .001, d = 1.88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60"/>
              </a:spcAft>
            </a:pPr>
            <a:r>
              <a:rPr b="0" lang="en-US" sz="1200" spc="-1" strike="noStrike">
                <a:solidFill>
                  <a:srgbClr val="ccccdd"/>
                </a:solidFill>
                <a:latin typeface="Calibri"/>
              </a:rPr>
              <a:t>  • </a:t>
            </a:r>
            <a:r>
              <a:rPr b="0" lang="en-US" sz="1200" spc="-1" strike="noStrike">
                <a:solidFill>
                  <a:srgbClr val="ccccdd"/>
                </a:solidFill>
                <a:latin typeface="Calibri"/>
              </a:rPr>
              <a:t>Task Only: t(52) = 14.74, p &lt; .001, d = 2.02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60"/>
              </a:spcAft>
            </a:pPr>
            <a:r>
              <a:rPr b="0" lang="en-US" sz="1200" spc="-1" strike="noStrike">
                <a:solidFill>
                  <a:srgbClr val="ccccdd"/>
                </a:solidFill>
                <a:latin typeface="Calibri"/>
              </a:rPr>
              <a:t>  • </a:t>
            </a:r>
            <a:r>
              <a:rPr b="0" lang="en-US" sz="1200" spc="-1" strike="noStrike">
                <a:solidFill>
                  <a:srgbClr val="ccccdd"/>
                </a:solidFill>
                <a:latin typeface="Calibri"/>
              </a:rPr>
              <a:t>Both: t(50) = 10.96, p &lt; .001, d = 1.54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60"/>
              </a:spcAft>
            </a:pPr>
            <a:r>
              <a:rPr b="1" lang="en-US" sz="1200" spc="-1" strike="noStrike">
                <a:solidFill>
                  <a:srgbClr val="ccccdd"/>
                </a:solidFill>
                <a:latin typeface="Calibri"/>
              </a:rPr>
              <a:t>Conclusion: Strong evidence for pattern separation (all d &gt; 1.5)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09" name="Rounded Rectangle 7"/>
          <p:cNvSpPr/>
          <p:nvPr/>
        </p:nvSpPr>
        <p:spPr>
          <a:xfrm>
            <a:off x="6217920" y="1463040"/>
            <a:ext cx="5486040" cy="228564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0" name="TextBox 8"/>
          <p:cNvSpPr/>
          <p:nvPr/>
        </p:nvSpPr>
        <p:spPr>
          <a:xfrm>
            <a:off x="6492240" y="1600200"/>
            <a:ext cx="45716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1dd1a1"/>
                </a:solidFill>
                <a:latin typeface="Calibri"/>
              </a:rPr>
              <a:t>H2: REC &gt; 0  →  REJECTED H₀ 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1" name="Rectangle 9"/>
          <p:cNvSpPr/>
          <p:nvPr/>
        </p:nvSpPr>
        <p:spPr>
          <a:xfrm>
            <a:off x="6492240" y="1965960"/>
            <a:ext cx="1828440" cy="50400"/>
          </a:xfrm>
          <a:prstGeom prst="rect">
            <a:avLst/>
          </a:prstGeom>
          <a:solidFill>
            <a:srgbClr val="1dd1a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760" bIns="57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2" name="TextBox 10"/>
          <p:cNvSpPr/>
          <p:nvPr/>
        </p:nvSpPr>
        <p:spPr>
          <a:xfrm>
            <a:off x="6492240" y="2148840"/>
            <a:ext cx="5028840" cy="118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60"/>
              </a:spcAft>
            </a:pPr>
            <a:r>
              <a:rPr b="1" lang="en-US" sz="1200" spc="-1" strike="noStrike">
                <a:solidFill>
                  <a:srgbClr val="ccccdd"/>
                </a:solidFill>
                <a:latin typeface="Calibri"/>
              </a:rPr>
              <a:t>All conditions show significant recognition memory: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60"/>
              </a:spcAft>
            </a:pPr>
            <a:r>
              <a:rPr b="0" lang="en-US" sz="1200" spc="-1" strike="noStrike">
                <a:solidFill>
                  <a:srgbClr val="ccccdd"/>
                </a:solidFill>
                <a:latin typeface="Calibri"/>
              </a:rPr>
              <a:t>  • </a:t>
            </a:r>
            <a:r>
              <a:rPr b="0" lang="en-US" sz="1200" spc="-1" strike="noStrike">
                <a:solidFill>
                  <a:srgbClr val="ccccdd"/>
                </a:solidFill>
                <a:latin typeface="Calibri"/>
              </a:rPr>
              <a:t>All t-values &gt; 24, all p &lt; .001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60"/>
              </a:spcAft>
            </a:pPr>
            <a:r>
              <a:rPr b="0" lang="en-US" sz="1200" spc="-1" strike="noStrike">
                <a:solidFill>
                  <a:srgbClr val="ccccdd"/>
                </a:solidFill>
                <a:latin typeface="Calibri"/>
              </a:rPr>
              <a:t>  • </a:t>
            </a:r>
            <a:r>
              <a:rPr b="0" lang="en-US" sz="1200" spc="-1" strike="noStrike">
                <a:solidFill>
                  <a:srgbClr val="ccccdd"/>
                </a:solidFill>
                <a:latin typeface="Calibri"/>
              </a:rPr>
              <a:t>REC range: .594 – .634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60"/>
              </a:spcAft>
            </a:pPr>
            <a:r>
              <a:rPr b="0" lang="en-US" sz="1200" spc="-1" strike="noStrike">
                <a:solidFill>
                  <a:srgbClr val="ccccdd"/>
                </a:solidFill>
                <a:latin typeface="Calibri"/>
              </a:rPr>
              <a:t>  • </a:t>
            </a:r>
            <a:r>
              <a:rPr b="0" lang="en-US" sz="1200" spc="-1" strike="noStrike">
                <a:solidFill>
                  <a:srgbClr val="ccccdd"/>
                </a:solidFill>
                <a:latin typeface="Calibri"/>
              </a:rPr>
              <a:t>Very large effect sizes across all conditions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60"/>
              </a:spcAft>
            </a:pPr>
            <a:r>
              <a:rPr b="1" lang="en-US" sz="1200" spc="-1" strike="noStrike">
                <a:solidFill>
                  <a:srgbClr val="ccccdd"/>
                </a:solidFill>
                <a:latin typeface="Calibri"/>
              </a:rPr>
              <a:t>Conclusion: Robust recognition memory confirmed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3" name="Rounded Rectangle 11"/>
          <p:cNvSpPr/>
          <p:nvPr/>
        </p:nvSpPr>
        <p:spPr>
          <a:xfrm>
            <a:off x="457200" y="4023360"/>
            <a:ext cx="5486040" cy="246852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4" name="TextBox 12"/>
          <p:cNvSpPr/>
          <p:nvPr/>
        </p:nvSpPr>
        <p:spPr>
          <a:xfrm>
            <a:off x="731520" y="4160520"/>
            <a:ext cx="45716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d93d"/>
                </a:solidFill>
                <a:latin typeface="Calibri"/>
              </a:rPr>
              <a:t>H3: Similarity Effect  →  SUPPORTED ✓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5" name="Rectangle 13"/>
          <p:cNvSpPr/>
          <p:nvPr/>
        </p:nvSpPr>
        <p:spPr>
          <a:xfrm>
            <a:off x="731520" y="4526280"/>
            <a:ext cx="1828440" cy="50400"/>
          </a:xfrm>
          <a:prstGeom prst="rect">
            <a:avLst/>
          </a:prstGeom>
          <a:solidFill>
            <a:srgbClr val="ffd9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760" bIns="57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16" name="TextBox 14"/>
          <p:cNvSpPr/>
          <p:nvPr/>
        </p:nvSpPr>
        <p:spPr>
          <a:xfrm>
            <a:off x="731520" y="4709160"/>
            <a:ext cx="5028840" cy="1415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60"/>
              </a:spcAft>
            </a:pPr>
            <a:r>
              <a:rPr b="1" lang="en-US" sz="1200" spc="-1" strike="noStrike">
                <a:solidFill>
                  <a:srgbClr val="ccccdd"/>
                </a:solidFill>
                <a:latin typeface="Calibri"/>
              </a:rPr>
              <a:t>Graded effect observed across bins: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60"/>
              </a:spcAft>
            </a:pPr>
            <a:r>
              <a:rPr b="0" lang="en-US" sz="1200" spc="-1" strike="noStrike">
                <a:solidFill>
                  <a:srgbClr val="ccccdd"/>
                </a:solidFill>
                <a:latin typeface="Calibri"/>
              </a:rPr>
              <a:t>  • </a:t>
            </a:r>
            <a:r>
              <a:rPr b="0" lang="en-US" sz="1200" spc="-1" strike="noStrike">
                <a:solidFill>
                  <a:srgbClr val="ccccdd"/>
                </a:solidFill>
                <a:latin typeface="Calibri"/>
              </a:rPr>
              <a:t>Bin 1 (most similar): highest false 'Old' rate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60"/>
              </a:spcAft>
            </a:pPr>
            <a:r>
              <a:rPr b="0" lang="en-US" sz="1200" spc="-1" strike="noStrike">
                <a:solidFill>
                  <a:srgbClr val="ccccdd"/>
                </a:solidFill>
                <a:latin typeface="Calibri"/>
              </a:rPr>
              <a:t>  • </a:t>
            </a:r>
            <a:r>
              <a:rPr b="0" lang="en-US" sz="1200" spc="-1" strike="noStrike">
                <a:solidFill>
                  <a:srgbClr val="ccccdd"/>
                </a:solidFill>
                <a:latin typeface="Calibri"/>
              </a:rPr>
              <a:t>Bin 5 (least similar): highest correct 'Similar'/'New'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60"/>
              </a:spcAft>
            </a:pPr>
            <a:r>
              <a:rPr b="0" lang="en-US" sz="1200" spc="-1" strike="noStrike">
                <a:solidFill>
                  <a:srgbClr val="ccccdd"/>
                </a:solidFill>
                <a:latin typeface="Calibri"/>
              </a:rPr>
              <a:t>  • </a:t>
            </a:r>
            <a:r>
              <a:rPr b="0" lang="en-US" sz="1200" spc="-1" strike="noStrike">
                <a:solidFill>
                  <a:srgbClr val="ccccdd"/>
                </a:solidFill>
                <a:latin typeface="Calibri"/>
              </a:rPr>
              <a:t>Monotonic gradient consistent across all conditions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60"/>
              </a:spcAft>
            </a:pPr>
            <a:r>
              <a:rPr b="0" lang="en-US" sz="1200" spc="-1" strike="noStrike">
                <a:solidFill>
                  <a:srgbClr val="ccccdd"/>
                </a:solidFill>
                <a:latin typeface="Calibri"/>
              </a:rPr>
              <a:t>  • </a:t>
            </a:r>
            <a:r>
              <a:rPr b="0" lang="en-US" sz="1200" spc="-1" strike="noStrike">
                <a:solidFill>
                  <a:srgbClr val="ccccdd"/>
                </a:solidFill>
                <a:latin typeface="Calibri"/>
              </a:rPr>
              <a:t>Confirms pattern separation hypothesis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60"/>
              </a:spcAft>
            </a:pPr>
            <a:r>
              <a:rPr b="1" lang="en-US" sz="1200" spc="-1" strike="noStrike">
                <a:solidFill>
                  <a:srgbClr val="ccccdd"/>
                </a:solidFill>
                <a:latin typeface="Calibri"/>
              </a:rPr>
              <a:t>Conclusion: Similarity parametrically affects discrimination</a:t>
            </a:r>
            <a:endParaRPr b="0" lang="en-US" sz="12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TextBox 1"/>
          <p:cNvSpPr/>
          <p:nvPr/>
        </p:nvSpPr>
        <p:spPr>
          <a:xfrm>
            <a:off x="731520" y="457200"/>
            <a:ext cx="73148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</a:rPr>
              <a:t>Results: Overall Performance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18" name="Rectangle 2"/>
          <p:cNvSpPr/>
          <p:nvPr/>
        </p:nvSpPr>
        <p:spPr>
          <a:xfrm>
            <a:off x="731520" y="1097280"/>
            <a:ext cx="2742840" cy="50400"/>
          </a:xfrm>
          <a:prstGeom prst="rect">
            <a:avLst/>
          </a:prstGeom>
          <a:solidFill>
            <a:srgbClr val="6c6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760" bIns="57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graphicFrame>
        <p:nvGraphicFramePr>
          <p:cNvPr id="219" name="Table 3"/>
          <p:cNvGraphicFramePr/>
          <p:nvPr/>
        </p:nvGraphicFramePr>
        <p:xfrm>
          <a:off x="731520" y="1463040"/>
          <a:ext cx="7772040" cy="1098720"/>
        </p:xfrm>
        <a:graphic>
          <a:graphicData uri="http://schemas.openxmlformats.org/drawingml/2006/table">
            <a:tbl>
              <a:tblPr/>
              <a:tblGrid>
                <a:gridCol w="1645920"/>
                <a:gridCol w="1371600"/>
                <a:gridCol w="1188720"/>
                <a:gridCol w="1188720"/>
                <a:gridCol w="1188720"/>
                <a:gridCol w="1188720"/>
              </a:tblGrid>
              <a:tr h="2268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Condition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6c63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Hit Rate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6c63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FA Rate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6c63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LDI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6c63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REC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6c63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CR Rate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6c63ff"/>
                    </a:solidFill>
                  </a:tcPr>
                </a:tc>
              </a:tr>
              <a:tr h="2268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Item Only (N=56)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24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.669 ± .145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24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.035 ± .059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24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.319 ± .169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24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.634 ± .153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24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.775 ± .128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243e"/>
                    </a:solidFill>
                  </a:tcPr>
                </a:tc>
              </a:tr>
              <a:tr h="2268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Task Only (N=53)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2e4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.627 ± .168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2e4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.031 ± .050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2e4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.381 ± .188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2e4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.596 ± .174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2e4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.775 ± .136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2e4e"/>
                    </a:solidFill>
                  </a:tcPr>
                </a:tc>
              </a:tr>
              <a:tr h="2268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Both (N=51)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24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.642 ± .133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24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.047 ± .071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24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.269 ± .175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24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.594 ± .139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24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.755 ± .117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243e"/>
                    </a:solidFill>
                  </a:tcPr>
                </a:tc>
              </a:tr>
            </a:tbl>
          </a:graphicData>
        </a:graphic>
      </p:graphicFrame>
      <p:sp>
        <p:nvSpPr>
          <p:cNvPr id="220" name="Rounded Rectangle 4"/>
          <p:cNvSpPr/>
          <p:nvPr/>
        </p:nvSpPr>
        <p:spPr>
          <a:xfrm>
            <a:off x="731520" y="3200400"/>
            <a:ext cx="5028840" cy="320004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1" name="TextBox 5"/>
          <p:cNvSpPr/>
          <p:nvPr/>
        </p:nvSpPr>
        <p:spPr>
          <a:xfrm>
            <a:off x="1005840" y="3337560"/>
            <a:ext cx="36572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00d2d3"/>
                </a:solidFill>
                <a:latin typeface="Calibri"/>
              </a:rPr>
              <a:t>Shapiro-Wilk Normality Tests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2" name="TextBox 6"/>
          <p:cNvSpPr/>
          <p:nvPr/>
        </p:nvSpPr>
        <p:spPr>
          <a:xfrm>
            <a:off x="1005840" y="3749040"/>
            <a:ext cx="4571640" cy="2024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91"/>
              </a:spcAft>
            </a:pPr>
            <a:r>
              <a:rPr b="1" lang="en-US" sz="1300" spc="-1" strike="noStrike">
                <a:solidFill>
                  <a:srgbClr val="ccccdd"/>
                </a:solidFill>
                <a:latin typeface="Calibri"/>
              </a:rPr>
              <a:t>LDI distributions – all normally distributed: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91"/>
              </a:spcAft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91"/>
              </a:spcAft>
            </a:pPr>
            <a:r>
              <a:rPr b="0" lang="en-US" sz="1300" spc="-1" strike="noStrike">
                <a:solidFill>
                  <a:srgbClr val="ccccdd"/>
                </a:solidFill>
                <a:latin typeface="Calibri"/>
              </a:rPr>
              <a:t>  • </a:t>
            </a:r>
            <a:r>
              <a:rPr b="0" lang="en-US" sz="1300" spc="-1" strike="noStrike">
                <a:solidFill>
                  <a:srgbClr val="ccccdd"/>
                </a:solidFill>
                <a:latin typeface="Calibri"/>
              </a:rPr>
              <a:t>Item Only: W = .979, p = .43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91"/>
              </a:spcAft>
            </a:pPr>
            <a:r>
              <a:rPr b="0" lang="en-US" sz="1300" spc="-1" strike="noStrike">
                <a:solidFill>
                  <a:srgbClr val="ccccdd"/>
                </a:solidFill>
                <a:latin typeface="Calibri"/>
              </a:rPr>
              <a:t>  • </a:t>
            </a:r>
            <a:r>
              <a:rPr b="0" lang="en-US" sz="1300" spc="-1" strike="noStrike">
                <a:solidFill>
                  <a:srgbClr val="ccccdd"/>
                </a:solidFill>
                <a:latin typeface="Calibri"/>
              </a:rPr>
              <a:t>Task Only: W = .983, p = .64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91"/>
              </a:spcAft>
            </a:pPr>
            <a:r>
              <a:rPr b="0" lang="en-US" sz="1300" spc="-1" strike="noStrike">
                <a:solidFill>
                  <a:srgbClr val="ccccdd"/>
                </a:solidFill>
                <a:latin typeface="Calibri"/>
              </a:rPr>
              <a:t>  • </a:t>
            </a:r>
            <a:r>
              <a:rPr b="0" lang="en-US" sz="1300" spc="-1" strike="noStrike">
                <a:solidFill>
                  <a:srgbClr val="ccccdd"/>
                </a:solidFill>
                <a:latin typeface="Calibri"/>
              </a:rPr>
              <a:t>Both: W = .989, p = .93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91"/>
              </a:spcAft>
            </a:pP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91"/>
              </a:spcAft>
            </a:pPr>
            <a:r>
              <a:rPr b="1" lang="en-US" sz="1300" spc="-1" strike="noStrike">
                <a:solidFill>
                  <a:srgbClr val="ccccdd"/>
                </a:solidFill>
                <a:latin typeface="Calibri"/>
              </a:rPr>
              <a:t>→ </a:t>
            </a:r>
            <a:r>
              <a:rPr b="1" lang="en-US" sz="1300" spc="-1" strike="noStrike">
                <a:solidFill>
                  <a:srgbClr val="ccccdd"/>
                </a:solidFill>
                <a:latin typeface="Calibri"/>
              </a:rPr>
              <a:t>Supports use of parametric t-tests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91"/>
              </a:spcAft>
            </a:pPr>
            <a:r>
              <a:rPr b="1" lang="en-US" sz="1300" spc="-1" strike="noStrike">
                <a:solidFill>
                  <a:srgbClr val="ccccdd"/>
                </a:solidFill>
                <a:latin typeface="Calibri"/>
              </a:rPr>
              <a:t>→ </a:t>
            </a:r>
            <a:r>
              <a:rPr b="1" lang="en-US" sz="1300" spc="-1" strike="noStrike">
                <a:solidFill>
                  <a:srgbClr val="ccccdd"/>
                </a:solidFill>
                <a:latin typeface="Calibri"/>
              </a:rPr>
              <a:t>Both normal and t-distributions fit well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pic>
        <p:nvPicPr>
          <p:cNvPr id="223" name="Picture 7" descr="fig2_ldi_rec_boxplot.png"/>
          <p:cNvPicPr/>
          <p:nvPr/>
        </p:nvPicPr>
        <p:blipFill>
          <a:blip r:embed="rId1"/>
          <a:stretch/>
        </p:blipFill>
        <p:spPr>
          <a:xfrm>
            <a:off x="6400800" y="2926080"/>
            <a:ext cx="5028840" cy="25142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TextBox 1"/>
          <p:cNvSpPr/>
          <p:nvPr/>
        </p:nvSpPr>
        <p:spPr>
          <a:xfrm>
            <a:off x="731520" y="457200"/>
            <a:ext cx="73148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</a:rPr>
              <a:t>Results: Response Proportions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25" name="Rectangle 2"/>
          <p:cNvSpPr/>
          <p:nvPr/>
        </p:nvSpPr>
        <p:spPr>
          <a:xfrm>
            <a:off x="731520" y="1097280"/>
            <a:ext cx="2742840" cy="50400"/>
          </a:xfrm>
          <a:prstGeom prst="rect">
            <a:avLst/>
          </a:prstGeom>
          <a:solidFill>
            <a:srgbClr val="6c6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760" bIns="57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graphicFrame>
        <p:nvGraphicFramePr>
          <p:cNvPr id="226" name="Table 3"/>
          <p:cNvGraphicFramePr/>
          <p:nvPr/>
        </p:nvGraphicFramePr>
        <p:xfrm>
          <a:off x="457200" y="1463040"/>
          <a:ext cx="6217560" cy="27468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1188720"/>
                <a:gridCol w="1371600"/>
                <a:gridCol w="1188720"/>
              </a:tblGrid>
              <a:tr h="90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Condition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6c63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Stimulus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6c63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P('Old')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6c63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P('Similar')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6c63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P('New')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6c63ff"/>
                    </a:solidFill>
                  </a:tcPr>
                </a:tc>
              </a:tr>
              <a:tr h="90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Item Only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24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Target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24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.669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24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.233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24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.098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243e"/>
                    </a:solidFill>
                  </a:tcPr>
                </a:tc>
              </a:tr>
              <a:tr h="90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Item Only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2e4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Lure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2e4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.290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2e4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.509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2e4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.201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2e4e"/>
                    </a:solidFill>
                  </a:tcPr>
                </a:tc>
              </a:tr>
              <a:tr h="90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Item Only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24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Foil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24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.035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24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.190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24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.775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243e"/>
                    </a:solidFill>
                  </a:tcPr>
                </a:tc>
              </a:tr>
              <a:tr h="90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Task Only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2e4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Target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2e4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.627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2e4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.270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2e4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.103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2e4e"/>
                    </a:solidFill>
                  </a:tcPr>
                </a:tc>
              </a:tr>
              <a:tr h="90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Task Only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24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Lure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24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.247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24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.574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24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.178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243e"/>
                    </a:solidFill>
                  </a:tcPr>
                </a:tc>
              </a:tr>
              <a:tr h="90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Task Only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2e4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Foil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2e4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.031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2e4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.194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2e4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.775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2e4e"/>
                    </a:solidFill>
                  </a:tcPr>
                </a:tc>
              </a:tr>
              <a:tr h="90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Both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24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Target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24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.638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24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.247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24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.114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243e"/>
                    </a:solidFill>
                  </a:tcPr>
                </a:tc>
              </a:tr>
              <a:tr h="90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Both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2e4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Lure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2e4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.305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2e4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.466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2e4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.229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2e4e"/>
                    </a:solidFill>
                  </a:tcPr>
                </a:tc>
              </a:tr>
              <a:tr h="90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Both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24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Foil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24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.047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24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.199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24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.754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243e"/>
                    </a:solidFill>
                  </a:tcPr>
                </a:tc>
              </a:tr>
            </a:tbl>
          </a:graphicData>
        </a:graphic>
      </p:graphicFrame>
      <p:pic>
        <p:nvPicPr>
          <p:cNvPr id="227" name="Picture 4" descr="fig1_response_proportions.png"/>
          <p:cNvPicPr/>
          <p:nvPr/>
        </p:nvPicPr>
        <p:blipFill>
          <a:blip r:embed="rId1"/>
          <a:stretch/>
        </p:blipFill>
        <p:spPr>
          <a:xfrm>
            <a:off x="6858000" y="1371600"/>
            <a:ext cx="4571640" cy="2742840"/>
          </a:xfrm>
          <a:prstGeom prst="rect">
            <a:avLst/>
          </a:prstGeom>
          <a:ln w="0">
            <a:noFill/>
          </a:ln>
        </p:spPr>
      </p:pic>
      <p:sp>
        <p:nvSpPr>
          <p:cNvPr id="228" name="Rounded Rectangle 5"/>
          <p:cNvSpPr/>
          <p:nvPr/>
        </p:nvSpPr>
        <p:spPr>
          <a:xfrm>
            <a:off x="6858000" y="4846320"/>
            <a:ext cx="4571640" cy="155412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29" name="TextBox 6"/>
          <p:cNvSpPr/>
          <p:nvPr/>
        </p:nvSpPr>
        <p:spPr>
          <a:xfrm>
            <a:off x="7132320" y="5029200"/>
            <a:ext cx="4114440" cy="1032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91"/>
              </a:spcAft>
            </a:pPr>
            <a:r>
              <a:rPr b="1" lang="en-US" sz="1300" spc="-1" strike="noStrike">
                <a:solidFill>
                  <a:srgbClr val="ccccdd"/>
                </a:solidFill>
                <a:latin typeface="Calibri"/>
              </a:rPr>
              <a:t>Key Observations: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91"/>
              </a:spcAft>
            </a:pPr>
            <a:r>
              <a:rPr b="0" lang="en-US" sz="1300" spc="-1" strike="noStrike">
                <a:solidFill>
                  <a:srgbClr val="ccccdd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ccccdd"/>
                </a:solidFill>
                <a:latin typeface="Calibri"/>
              </a:rPr>
              <a:t>Task Only: highest lure 'Similar' rate (.574)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91"/>
              </a:spcAft>
            </a:pPr>
            <a:r>
              <a:rPr b="0" lang="en-US" sz="1300" spc="-1" strike="noStrike">
                <a:solidFill>
                  <a:srgbClr val="ccccdd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ccccdd"/>
                </a:solidFill>
                <a:latin typeface="Calibri"/>
              </a:rPr>
              <a:t>Both: lowest lure 'Similar' rate (.466)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91"/>
              </a:spcAft>
            </a:pPr>
            <a:r>
              <a:rPr b="0" lang="en-US" sz="1300" spc="-1" strike="noStrike">
                <a:solidFill>
                  <a:srgbClr val="ccccdd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ccccdd"/>
                </a:solidFill>
                <a:latin typeface="Calibri"/>
              </a:rPr>
              <a:t>Foils correctly rejected at &gt;.75 in all conditions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TextBox 1"/>
          <p:cNvSpPr/>
          <p:nvPr/>
        </p:nvSpPr>
        <p:spPr>
          <a:xfrm>
            <a:off x="731520" y="457200"/>
            <a:ext cx="1046988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</a:rPr>
              <a:t>Results: LDI Distribution &amp; Hit/FA Rates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1" name="Rectangle 2"/>
          <p:cNvSpPr/>
          <p:nvPr/>
        </p:nvSpPr>
        <p:spPr>
          <a:xfrm>
            <a:off x="731520" y="1097280"/>
            <a:ext cx="2742840" cy="50400"/>
          </a:xfrm>
          <a:prstGeom prst="rect">
            <a:avLst/>
          </a:prstGeom>
          <a:solidFill>
            <a:srgbClr val="6c6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760" bIns="57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32" name="Picture 3" descr="fig4_ldi_distribution.png"/>
          <p:cNvPicPr/>
          <p:nvPr/>
        </p:nvPicPr>
        <p:blipFill>
          <a:blip r:embed="rId1"/>
          <a:stretch/>
        </p:blipFill>
        <p:spPr>
          <a:xfrm>
            <a:off x="274320" y="1371600"/>
            <a:ext cx="3840120" cy="1919880"/>
          </a:xfrm>
          <a:prstGeom prst="rect">
            <a:avLst/>
          </a:prstGeom>
          <a:ln w="0">
            <a:noFill/>
          </a:ln>
        </p:spPr>
      </p:pic>
      <p:pic>
        <p:nvPicPr>
          <p:cNvPr id="233" name="Picture 4" descr="fig5_normal_t_comparison.png"/>
          <p:cNvPicPr/>
          <p:nvPr/>
        </p:nvPicPr>
        <p:blipFill>
          <a:blip r:embed="rId2"/>
          <a:stretch/>
        </p:blipFill>
        <p:spPr>
          <a:xfrm>
            <a:off x="4206240" y="1371600"/>
            <a:ext cx="3840120" cy="1919880"/>
          </a:xfrm>
          <a:prstGeom prst="rect">
            <a:avLst/>
          </a:prstGeom>
          <a:ln w="0">
            <a:noFill/>
          </a:ln>
        </p:spPr>
      </p:pic>
      <p:pic>
        <p:nvPicPr>
          <p:cNvPr id="234" name="Picture 5" descr="fig3_hit_fa_boxplot.png"/>
          <p:cNvPicPr/>
          <p:nvPr/>
        </p:nvPicPr>
        <p:blipFill>
          <a:blip r:embed="rId3"/>
          <a:stretch/>
        </p:blipFill>
        <p:spPr>
          <a:xfrm>
            <a:off x="8229600" y="1371600"/>
            <a:ext cx="3657240" cy="1828440"/>
          </a:xfrm>
          <a:prstGeom prst="rect">
            <a:avLst/>
          </a:prstGeom>
          <a:ln w="0">
            <a:noFill/>
          </a:ln>
        </p:spPr>
      </p:pic>
      <p:sp>
        <p:nvSpPr>
          <p:cNvPr id="235" name="Rounded Rectangle 6"/>
          <p:cNvSpPr/>
          <p:nvPr/>
        </p:nvSpPr>
        <p:spPr>
          <a:xfrm>
            <a:off x="274320" y="5120640"/>
            <a:ext cx="11612520" cy="137124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36" name="TextBox 7"/>
          <p:cNvSpPr/>
          <p:nvPr/>
        </p:nvSpPr>
        <p:spPr>
          <a:xfrm>
            <a:off x="548640" y="5257800"/>
            <a:ext cx="10972440" cy="78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391"/>
              </a:spcAft>
            </a:pPr>
            <a:r>
              <a:rPr b="0" lang="en-US" sz="1300" spc="-1" strike="noStrike">
                <a:solidFill>
                  <a:srgbClr val="ccccdd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ccccdd"/>
                </a:solidFill>
                <a:latin typeface="Calibri"/>
              </a:rPr>
              <a:t>LDI approximately normal in all conditions (Shapiro-Wilk: all p &gt; .42) — parametric tests justified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91"/>
              </a:spcAft>
            </a:pPr>
            <a:r>
              <a:rPr b="0" lang="en-US" sz="1300" spc="-1" strike="noStrike">
                <a:solidFill>
                  <a:srgbClr val="ccccdd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ccccdd"/>
                </a:solidFill>
                <a:latin typeface="Calibri"/>
              </a:rPr>
              <a:t>t-distribution (df = n−1) offers slightly heavier tails, accounting for individual variation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391"/>
              </a:spcAft>
            </a:pPr>
            <a:r>
              <a:rPr b="0" lang="en-US" sz="1300" spc="-1" strike="noStrike">
                <a:solidFill>
                  <a:srgbClr val="ccccdd"/>
                </a:solidFill>
                <a:latin typeface="Calibri"/>
              </a:rPr>
              <a:t>• </a:t>
            </a:r>
            <a:r>
              <a:rPr b="0" lang="en-US" sz="1300" spc="-1" strike="noStrike">
                <a:solidFill>
                  <a:srgbClr val="ccccdd"/>
                </a:solidFill>
                <a:latin typeface="Calibri"/>
              </a:rPr>
              <a:t>Hit rates: .627–.669 (moderate); FA rates very low: .031–.047; CR rates high: .755–.775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TextBox 1"/>
          <p:cNvSpPr/>
          <p:nvPr/>
        </p:nvSpPr>
        <p:spPr>
          <a:xfrm>
            <a:off x="731520" y="457200"/>
            <a:ext cx="8869680" cy="639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</a:rPr>
              <a:t>Results: Reaction Time Analysis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38" name="Rectangle 2"/>
          <p:cNvSpPr/>
          <p:nvPr/>
        </p:nvSpPr>
        <p:spPr>
          <a:xfrm>
            <a:off x="731520" y="1097280"/>
            <a:ext cx="2742840" cy="50400"/>
          </a:xfrm>
          <a:prstGeom prst="rect">
            <a:avLst/>
          </a:prstGeom>
          <a:solidFill>
            <a:srgbClr val="6c6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760" bIns="57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graphicFrame>
        <p:nvGraphicFramePr>
          <p:cNvPr id="239" name="Table 3"/>
          <p:cNvGraphicFramePr/>
          <p:nvPr/>
        </p:nvGraphicFramePr>
        <p:xfrm>
          <a:off x="457200" y="1463040"/>
          <a:ext cx="5577480" cy="2746800"/>
        </p:xfrm>
        <a:graphic>
          <a:graphicData uri="http://schemas.openxmlformats.org/drawingml/2006/table">
            <a:tbl>
              <a:tblPr/>
              <a:tblGrid>
                <a:gridCol w="1371600"/>
                <a:gridCol w="1097280"/>
                <a:gridCol w="1097280"/>
                <a:gridCol w="914400"/>
                <a:gridCol w="1097280"/>
              </a:tblGrid>
              <a:tr h="90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Condition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6c63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Stimulus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6c63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Mean (s)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6c63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SD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6c63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1" lang="en-US" sz="1200" spc="-1" strike="noStrike">
                          <a:solidFill>
                            <a:srgbClr val="ffffff"/>
                          </a:solidFill>
                          <a:latin typeface="Calibri"/>
                        </a:rPr>
                        <a:t>Median (s)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6c63ff"/>
                    </a:solidFill>
                  </a:tcPr>
                </a:tc>
              </a:tr>
              <a:tr h="90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Item Only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24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Target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24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2.520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24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2.714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24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1.698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243e"/>
                    </a:solidFill>
                  </a:tcPr>
                </a:tc>
              </a:tr>
              <a:tr h="90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Item Only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2e4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Lure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2e4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2.831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2e4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3.040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2e4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1.889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2e4e"/>
                    </a:solidFill>
                  </a:tcPr>
                </a:tc>
              </a:tr>
              <a:tr h="90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Item Only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24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Foil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24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2.643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24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3.190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24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1.836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243e"/>
                    </a:solidFill>
                  </a:tcPr>
                </a:tc>
              </a:tr>
              <a:tr h="90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Task Only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2e4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Target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2e4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2.096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2e4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2.133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2e4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1.499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2e4e"/>
                    </a:solidFill>
                  </a:tcPr>
                </a:tc>
              </a:tr>
              <a:tr h="90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Task Only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24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Lure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24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2.338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24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1.901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24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1.708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243e"/>
                    </a:solidFill>
                  </a:tcPr>
                </a:tc>
              </a:tr>
              <a:tr h="90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Task Only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2e4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Foil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2e4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2.278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2e4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1.822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2e4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1.691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2e4e"/>
                    </a:solidFill>
                  </a:tcPr>
                </a:tc>
              </a:tr>
              <a:tr h="90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Both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24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Target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24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2.192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24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2.142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24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1.578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243e"/>
                    </a:solidFill>
                  </a:tcPr>
                </a:tc>
              </a:tr>
              <a:tr h="90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Both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2e4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Lure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2e4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2.388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2e4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2.264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2e4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1.765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e2e4e"/>
                    </a:solidFill>
                  </a:tcPr>
                </a:tc>
              </a:tr>
              <a:tr h="9000"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Both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24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Foil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24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2.426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24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2.320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243e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 algn="ctr" defTabSz="457200">
                        <a:lnSpc>
                          <a:spcPct val="100000"/>
                        </a:lnSpc>
                      </a:pPr>
                      <a:r>
                        <a:rPr b="0" lang="en-US" sz="1200" spc="-1" strike="noStrike">
                          <a:solidFill>
                            <a:srgbClr val="ccccdd"/>
                          </a:solidFill>
                          <a:latin typeface="Calibri"/>
                        </a:rPr>
                        <a:t>1.708</a:t>
                      </a:r>
                      <a:endParaRPr b="0" lang="en-US" sz="1200" spc="-1" strike="noStrike">
                        <a:solidFill>
                          <a:srgbClr val="ffffff"/>
                        </a:solidFill>
                        <a:latin typeface="Arial"/>
                      </a:endParaRPr>
                    </a:p>
                  </a:txBody>
                  <a:tcPr anchor="ctr" marL="91440" marR="91440">
                    <a:lnL w="12240">
                      <a:solidFill>
                        <a:srgbClr val="ffffff"/>
                      </a:solidFill>
                      <a:prstDash val="solid"/>
                    </a:lnL>
                    <a:lnR w="12240">
                      <a:solidFill>
                        <a:srgbClr val="ffffff"/>
                      </a:solidFill>
                      <a:prstDash val="solid"/>
                    </a:lnR>
                    <a:lnT w="12240">
                      <a:solidFill>
                        <a:srgbClr val="ffffff"/>
                      </a:solidFill>
                      <a:prstDash val="solid"/>
                    </a:lnT>
                    <a:lnB w="12240">
                      <a:solidFill>
                        <a:srgbClr val="ffffff"/>
                      </a:solidFill>
                      <a:prstDash val="solid"/>
                    </a:lnB>
                    <a:solidFill>
                      <a:srgbClr val="24243e"/>
                    </a:solidFill>
                  </a:tcPr>
                </a:tc>
              </a:tr>
            </a:tbl>
          </a:graphicData>
        </a:graphic>
      </p:graphicFrame>
      <p:pic>
        <p:nvPicPr>
          <p:cNvPr id="240" name="Picture 4" descr="fig6_rt_violin.png"/>
          <p:cNvPicPr/>
          <p:nvPr/>
        </p:nvPicPr>
        <p:blipFill>
          <a:blip r:embed="rId1"/>
          <a:stretch/>
        </p:blipFill>
        <p:spPr>
          <a:xfrm>
            <a:off x="6400800" y="1371600"/>
            <a:ext cx="5028840" cy="2742840"/>
          </a:xfrm>
          <a:prstGeom prst="rect">
            <a:avLst/>
          </a:prstGeom>
          <a:ln w="0">
            <a:noFill/>
          </a:ln>
        </p:spPr>
      </p:pic>
      <p:pic>
        <p:nvPicPr>
          <p:cNvPr id="241" name="Picture 5" descr="fig7_rt_by_response.png"/>
          <p:cNvPicPr/>
          <p:nvPr/>
        </p:nvPicPr>
        <p:blipFill>
          <a:blip r:embed="rId2"/>
          <a:stretch/>
        </p:blipFill>
        <p:spPr>
          <a:xfrm>
            <a:off x="6400800" y="4114800"/>
            <a:ext cx="5028840" cy="2285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TextBox 1"/>
          <p:cNvSpPr/>
          <p:nvPr/>
        </p:nvSpPr>
        <p:spPr>
          <a:xfrm>
            <a:off x="731520" y="457200"/>
            <a:ext cx="91436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</a:rPr>
              <a:t>Results: Similarity Bin Analysis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3" name="Rectangle 2"/>
          <p:cNvSpPr/>
          <p:nvPr/>
        </p:nvSpPr>
        <p:spPr>
          <a:xfrm>
            <a:off x="731520" y="1097280"/>
            <a:ext cx="2742840" cy="50400"/>
          </a:xfrm>
          <a:prstGeom prst="rect">
            <a:avLst/>
          </a:prstGeom>
          <a:solidFill>
            <a:srgbClr val="6c6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760" bIns="57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pic>
        <p:nvPicPr>
          <p:cNvPr id="244" name="Picture 3" descr="fig8_bin_performance.png"/>
          <p:cNvPicPr/>
          <p:nvPr/>
        </p:nvPicPr>
        <p:blipFill>
          <a:blip r:embed="rId1"/>
          <a:stretch/>
        </p:blipFill>
        <p:spPr>
          <a:xfrm>
            <a:off x="457200" y="1463040"/>
            <a:ext cx="5303160" cy="3181680"/>
          </a:xfrm>
          <a:prstGeom prst="rect">
            <a:avLst/>
          </a:prstGeom>
          <a:ln w="0">
            <a:noFill/>
          </a:ln>
        </p:spPr>
      </p:pic>
      <p:pic>
        <p:nvPicPr>
          <p:cNvPr id="245" name="Picture 4" descr="fig9_hit_vs_ldi.png"/>
          <p:cNvPicPr/>
          <p:nvPr/>
        </p:nvPicPr>
        <p:blipFill>
          <a:blip r:embed="rId2"/>
          <a:stretch/>
        </p:blipFill>
        <p:spPr>
          <a:xfrm>
            <a:off x="6217920" y="1463040"/>
            <a:ext cx="5303160" cy="2651400"/>
          </a:xfrm>
          <a:prstGeom prst="rect">
            <a:avLst/>
          </a:prstGeom>
          <a:ln w="0">
            <a:noFill/>
          </a:ln>
        </p:spPr>
      </p:pic>
      <p:sp>
        <p:nvSpPr>
          <p:cNvPr id="246" name="Rounded Rectangle 5"/>
          <p:cNvSpPr/>
          <p:nvPr/>
        </p:nvSpPr>
        <p:spPr>
          <a:xfrm>
            <a:off x="457200" y="5029200"/>
            <a:ext cx="11246760" cy="146268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47" name="TextBox 6"/>
          <p:cNvSpPr/>
          <p:nvPr/>
        </p:nvSpPr>
        <p:spPr>
          <a:xfrm>
            <a:off x="731520" y="5166360"/>
            <a:ext cx="45716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ffd93d"/>
                </a:solidFill>
                <a:latin typeface="Calibri"/>
              </a:rPr>
              <a:t>Supports Hypothesis H3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48" name="TextBox 7"/>
          <p:cNvSpPr/>
          <p:nvPr/>
        </p:nvSpPr>
        <p:spPr>
          <a:xfrm>
            <a:off x="731520" y="5486400"/>
            <a:ext cx="10789560" cy="83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20"/>
              </a:spcAft>
            </a:pPr>
            <a:r>
              <a:rPr b="0" lang="en-US" sz="1400" spc="-1" strike="noStrike">
                <a:solidFill>
                  <a:srgbClr val="ccccdd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ccccdd"/>
                </a:solidFill>
                <a:latin typeface="Calibri"/>
              </a:rPr>
              <a:t>More similar lures (Bin 1) more often falsely endorsed as 'Old' — confirms pattern separation hypothesis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20"/>
              </a:spcAft>
            </a:pPr>
            <a:r>
              <a:rPr b="0" lang="en-US" sz="1400" spc="-1" strike="noStrike">
                <a:solidFill>
                  <a:srgbClr val="ccccdd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ccccdd"/>
                </a:solidFill>
                <a:latin typeface="Calibri"/>
              </a:rPr>
              <a:t>Less similar lures (Bin 5) more readily identified as 'Similar' or 'New'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20"/>
              </a:spcAft>
            </a:pPr>
            <a:r>
              <a:rPr b="0" lang="en-US" sz="1400" spc="-1" strike="noStrike">
                <a:solidFill>
                  <a:srgbClr val="ccccdd"/>
                </a:solidFill>
                <a:latin typeface="Calibri"/>
              </a:rPr>
              <a:t>• </a:t>
            </a:r>
            <a:r>
              <a:rPr b="0" lang="en-US" sz="1400" spc="-1" strike="noStrike">
                <a:solidFill>
                  <a:srgbClr val="ccccdd"/>
                </a:solidFill>
                <a:latin typeface="Calibri"/>
              </a:rPr>
              <a:t>Graded pattern consistent across all three encoding conditions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TextBox 1"/>
          <p:cNvSpPr/>
          <p:nvPr/>
        </p:nvSpPr>
        <p:spPr>
          <a:xfrm>
            <a:off x="731520" y="457200"/>
            <a:ext cx="73148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</a:rPr>
              <a:t>Results: Overall Accuracy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0" name="Rectangle 2"/>
          <p:cNvSpPr/>
          <p:nvPr/>
        </p:nvSpPr>
        <p:spPr>
          <a:xfrm>
            <a:off x="731520" y="1097280"/>
            <a:ext cx="2742840" cy="50400"/>
          </a:xfrm>
          <a:prstGeom prst="rect">
            <a:avLst/>
          </a:prstGeom>
          <a:solidFill>
            <a:srgbClr val="6c6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760" bIns="57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1" name="Rounded Rectangle 3"/>
          <p:cNvSpPr/>
          <p:nvPr/>
        </p:nvSpPr>
        <p:spPr>
          <a:xfrm>
            <a:off x="731520" y="1554480"/>
            <a:ext cx="3382920" cy="347436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2" name="TextBox 4"/>
          <p:cNvSpPr/>
          <p:nvPr/>
        </p:nvSpPr>
        <p:spPr>
          <a:xfrm>
            <a:off x="914400" y="1737360"/>
            <a:ext cx="30171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00d2d3"/>
                </a:solidFill>
                <a:latin typeface="Calibri"/>
              </a:rPr>
              <a:t>Task Only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3" name="TextBox 5"/>
          <p:cNvSpPr/>
          <p:nvPr/>
        </p:nvSpPr>
        <p:spPr>
          <a:xfrm>
            <a:off x="914400" y="2377440"/>
            <a:ext cx="301716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6000" spc="-1" strike="noStrike">
                <a:solidFill>
                  <a:srgbClr val="ffffff"/>
                </a:solidFill>
                <a:latin typeface="Calibri"/>
              </a:rPr>
              <a:t>.636</a:t>
            </a:r>
            <a:endParaRPr b="0" lang="en-US" sz="6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4" name="TextBox 6"/>
          <p:cNvSpPr/>
          <p:nvPr/>
        </p:nvSpPr>
        <p:spPr>
          <a:xfrm>
            <a:off x="914400" y="3474720"/>
            <a:ext cx="30171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9999bb"/>
                </a:solidFill>
                <a:latin typeface="Calibri"/>
              </a:rPr>
              <a:t>Overall Accuracy (Highest)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5" name="TextBox 7"/>
          <p:cNvSpPr/>
          <p:nvPr/>
        </p:nvSpPr>
        <p:spPr>
          <a:xfrm>
            <a:off x="914400" y="4023360"/>
            <a:ext cx="30171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ccccdd"/>
                </a:solidFill>
                <a:latin typeface="Calibri"/>
              </a:rPr>
              <a:t>Highest lure identification (.574)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6" name="Rounded Rectangle 8"/>
          <p:cNvSpPr/>
          <p:nvPr/>
        </p:nvSpPr>
        <p:spPr>
          <a:xfrm>
            <a:off x="4480560" y="1554480"/>
            <a:ext cx="3382920" cy="347436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57" name="TextBox 9"/>
          <p:cNvSpPr/>
          <p:nvPr/>
        </p:nvSpPr>
        <p:spPr>
          <a:xfrm>
            <a:off x="4663440" y="1737360"/>
            <a:ext cx="30171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a79bff"/>
                </a:solidFill>
                <a:latin typeface="Calibri"/>
              </a:rPr>
              <a:t>Item Only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8" name="TextBox 10"/>
          <p:cNvSpPr/>
          <p:nvPr/>
        </p:nvSpPr>
        <p:spPr>
          <a:xfrm>
            <a:off x="4663440" y="2377440"/>
            <a:ext cx="301716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6000" spc="-1" strike="noStrike">
                <a:solidFill>
                  <a:srgbClr val="ffffff"/>
                </a:solidFill>
                <a:latin typeface="Calibri"/>
              </a:rPr>
              <a:t>.623</a:t>
            </a:r>
            <a:endParaRPr b="0" lang="en-US" sz="6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59" name="TextBox 11"/>
          <p:cNvSpPr/>
          <p:nvPr/>
        </p:nvSpPr>
        <p:spPr>
          <a:xfrm>
            <a:off x="4663440" y="3474720"/>
            <a:ext cx="30171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9999bb"/>
                </a:solidFill>
                <a:latin typeface="Calibri"/>
              </a:rPr>
              <a:t>Overall Accuracy (Middle)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0" name="TextBox 12"/>
          <p:cNvSpPr/>
          <p:nvPr/>
        </p:nvSpPr>
        <p:spPr>
          <a:xfrm>
            <a:off x="4663440" y="4023360"/>
            <a:ext cx="30171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ccccdd"/>
                </a:solidFill>
                <a:latin typeface="Calibri"/>
              </a:rPr>
              <a:t>Highest target accuracy (.669)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1" name="Rounded Rectangle 13"/>
          <p:cNvSpPr/>
          <p:nvPr/>
        </p:nvSpPr>
        <p:spPr>
          <a:xfrm>
            <a:off x="8229600" y="1554480"/>
            <a:ext cx="3382920" cy="347436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2" name="TextBox 14"/>
          <p:cNvSpPr/>
          <p:nvPr/>
        </p:nvSpPr>
        <p:spPr>
          <a:xfrm>
            <a:off x="8412480" y="1737360"/>
            <a:ext cx="3017160" cy="45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400" spc="-1" strike="noStrike">
                <a:solidFill>
                  <a:srgbClr val="ff6b6b"/>
                </a:solidFill>
                <a:latin typeface="Calibri"/>
              </a:rPr>
              <a:t>Both</a:t>
            </a:r>
            <a:endParaRPr b="0" lang="en-US" sz="2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3" name="TextBox 15"/>
          <p:cNvSpPr/>
          <p:nvPr/>
        </p:nvSpPr>
        <p:spPr>
          <a:xfrm>
            <a:off x="8412480" y="2377440"/>
            <a:ext cx="3017160" cy="100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6000" spc="-1" strike="noStrike">
                <a:solidFill>
                  <a:srgbClr val="ffffff"/>
                </a:solidFill>
                <a:latin typeface="Calibri"/>
              </a:rPr>
              <a:t>.592</a:t>
            </a:r>
            <a:endParaRPr b="0" lang="en-US" sz="6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4" name="TextBox 16"/>
          <p:cNvSpPr/>
          <p:nvPr/>
        </p:nvSpPr>
        <p:spPr>
          <a:xfrm>
            <a:off x="8412480" y="3474720"/>
            <a:ext cx="3017160" cy="303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400" spc="-1" strike="noStrike">
                <a:solidFill>
                  <a:srgbClr val="9999bb"/>
                </a:solidFill>
                <a:latin typeface="Calibri"/>
              </a:rPr>
              <a:t>Overall Accuracy (Lowest)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5" name="TextBox 17"/>
          <p:cNvSpPr/>
          <p:nvPr/>
        </p:nvSpPr>
        <p:spPr>
          <a:xfrm>
            <a:off x="8412480" y="4023360"/>
            <a:ext cx="3017160" cy="288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300" spc="-1" strike="noStrike">
                <a:solidFill>
                  <a:srgbClr val="ccccdd"/>
                </a:solidFill>
                <a:latin typeface="Calibri"/>
              </a:rPr>
              <a:t>Lowest lure identification (.466)</a:t>
            </a:r>
            <a:endParaRPr b="0" lang="en-US" sz="13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TextBox 1"/>
          <p:cNvSpPr/>
          <p:nvPr/>
        </p:nvSpPr>
        <p:spPr>
          <a:xfrm>
            <a:off x="731520" y="457200"/>
            <a:ext cx="73148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</a:rPr>
              <a:t>Conclusions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67" name="Rectangle 2"/>
          <p:cNvSpPr/>
          <p:nvPr/>
        </p:nvSpPr>
        <p:spPr>
          <a:xfrm>
            <a:off x="731520" y="1097280"/>
            <a:ext cx="1828440" cy="50400"/>
          </a:xfrm>
          <a:prstGeom prst="rect">
            <a:avLst/>
          </a:prstGeom>
          <a:solidFill>
            <a:srgbClr val="6c6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760" bIns="57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8" name="Rounded Rectangle 3"/>
          <p:cNvSpPr/>
          <p:nvPr/>
        </p:nvSpPr>
        <p:spPr>
          <a:xfrm>
            <a:off x="731520" y="1463040"/>
            <a:ext cx="456840" cy="411120"/>
          </a:xfrm>
          <a:prstGeom prst="roundRect">
            <a:avLst>
              <a:gd name="adj" fmla="val 20000"/>
            </a:avLst>
          </a:prstGeom>
          <a:solidFill>
            <a:srgbClr val="00d2d3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69" name="TextBox 4"/>
          <p:cNvSpPr/>
          <p:nvPr/>
        </p:nvSpPr>
        <p:spPr>
          <a:xfrm>
            <a:off x="731520" y="1488600"/>
            <a:ext cx="456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1b1b2f"/>
                </a:solidFill>
                <a:latin typeface="Calibri"/>
              </a:rPr>
              <a:t>1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0" name="TextBox 5"/>
          <p:cNvSpPr/>
          <p:nvPr/>
        </p:nvSpPr>
        <p:spPr>
          <a:xfrm>
            <a:off x="1371600" y="1463040"/>
            <a:ext cx="41144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00d2d3"/>
                </a:solidFill>
                <a:latin typeface="Calibri"/>
              </a:rPr>
              <a:t>H₀ (LDI=0): Rejected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1" name="TextBox 6"/>
          <p:cNvSpPr/>
          <p:nvPr/>
        </p:nvSpPr>
        <p:spPr>
          <a:xfrm>
            <a:off x="1371600" y="1783080"/>
            <a:ext cx="457164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ccccdd"/>
                </a:solidFill>
                <a:latin typeface="Calibri"/>
              </a:rPr>
              <a:t>LDI &gt; 0 in all conditions (p&lt;.001, d&gt;1.5)</a:t>
            </a:r>
            <a:br>
              <a:rPr sz="1100"/>
            </a:br>
            <a:r>
              <a:rPr b="0" lang="en-US" sz="1100" spc="-1" strike="noStrike">
                <a:solidFill>
                  <a:srgbClr val="ccccdd"/>
                </a:solidFill>
                <a:latin typeface="Calibri"/>
              </a:rPr>
              <a:t>Task Only highest (.381), Both lowest (.269)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2" name="Rounded Rectangle 7"/>
          <p:cNvSpPr/>
          <p:nvPr/>
        </p:nvSpPr>
        <p:spPr>
          <a:xfrm>
            <a:off x="731520" y="2423160"/>
            <a:ext cx="456840" cy="411120"/>
          </a:xfrm>
          <a:prstGeom prst="roundRect">
            <a:avLst>
              <a:gd name="adj" fmla="val 20000"/>
            </a:avLst>
          </a:prstGeom>
          <a:solidFill>
            <a:srgbClr val="a79b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3" name="TextBox 8"/>
          <p:cNvSpPr/>
          <p:nvPr/>
        </p:nvSpPr>
        <p:spPr>
          <a:xfrm>
            <a:off x="731520" y="2448720"/>
            <a:ext cx="456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1b1b2f"/>
                </a:solidFill>
                <a:latin typeface="Calibri"/>
              </a:rPr>
              <a:t>2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4" name="TextBox 9"/>
          <p:cNvSpPr/>
          <p:nvPr/>
        </p:nvSpPr>
        <p:spPr>
          <a:xfrm>
            <a:off x="1371600" y="2423160"/>
            <a:ext cx="41144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a79bff"/>
                </a:solidFill>
                <a:latin typeface="Calibri"/>
              </a:rPr>
              <a:t>H₀ (REC=0): Rejected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5" name="TextBox 10"/>
          <p:cNvSpPr/>
          <p:nvPr/>
        </p:nvSpPr>
        <p:spPr>
          <a:xfrm>
            <a:off x="1371600" y="2743200"/>
            <a:ext cx="457164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ccccdd"/>
                </a:solidFill>
                <a:latin typeface="Calibri"/>
              </a:rPr>
              <a:t>REC .594–.634, all t&gt;24, p&lt;.001</a:t>
            </a:r>
            <a:br>
              <a:rPr sz="1100"/>
            </a:br>
            <a:r>
              <a:rPr b="0" lang="en-US" sz="1100" spc="-1" strike="noStrike">
                <a:solidFill>
                  <a:srgbClr val="ccccdd"/>
                </a:solidFill>
                <a:latin typeface="Calibri"/>
              </a:rPr>
              <a:t>Robust recognition memory confirmed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6" name="Rounded Rectangle 11"/>
          <p:cNvSpPr/>
          <p:nvPr/>
        </p:nvSpPr>
        <p:spPr>
          <a:xfrm>
            <a:off x="731520" y="3383280"/>
            <a:ext cx="456840" cy="411120"/>
          </a:xfrm>
          <a:prstGeom prst="roundRect">
            <a:avLst>
              <a:gd name="adj" fmla="val 20000"/>
            </a:avLst>
          </a:prstGeom>
          <a:solidFill>
            <a:srgbClr val="ffd93d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77" name="TextBox 12"/>
          <p:cNvSpPr/>
          <p:nvPr/>
        </p:nvSpPr>
        <p:spPr>
          <a:xfrm>
            <a:off x="731520" y="3408840"/>
            <a:ext cx="456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1b1b2f"/>
                </a:solidFill>
                <a:latin typeface="Calibri"/>
              </a:rPr>
              <a:t>3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8" name="TextBox 13"/>
          <p:cNvSpPr/>
          <p:nvPr/>
        </p:nvSpPr>
        <p:spPr>
          <a:xfrm>
            <a:off x="1371600" y="3383280"/>
            <a:ext cx="41144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d93d"/>
                </a:solidFill>
                <a:latin typeface="Calibri"/>
              </a:rPr>
              <a:t>H3: Similarity Effect Confirmed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79" name="TextBox 14"/>
          <p:cNvSpPr/>
          <p:nvPr/>
        </p:nvSpPr>
        <p:spPr>
          <a:xfrm>
            <a:off x="1371600" y="3703320"/>
            <a:ext cx="457164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ccccdd"/>
                </a:solidFill>
                <a:latin typeface="Calibri"/>
              </a:rPr>
              <a:t>Graded bin effect observed across all</a:t>
            </a:r>
            <a:br>
              <a:rPr sz="1100"/>
            </a:br>
            <a:r>
              <a:rPr b="0" lang="en-US" sz="1100" spc="-1" strike="noStrike">
                <a:solidFill>
                  <a:srgbClr val="ccccdd"/>
                </a:solidFill>
                <a:latin typeface="Calibri"/>
              </a:rPr>
              <a:t>conditions — consistent with theory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0" name="Rounded Rectangle 15"/>
          <p:cNvSpPr/>
          <p:nvPr/>
        </p:nvSpPr>
        <p:spPr>
          <a:xfrm>
            <a:off x="731520" y="4343400"/>
            <a:ext cx="456840" cy="411120"/>
          </a:xfrm>
          <a:prstGeom prst="roundRect">
            <a:avLst>
              <a:gd name="adj" fmla="val 20000"/>
            </a:avLst>
          </a:prstGeom>
          <a:solidFill>
            <a:srgbClr val="1dd1a1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1" name="TextBox 16"/>
          <p:cNvSpPr/>
          <p:nvPr/>
        </p:nvSpPr>
        <p:spPr>
          <a:xfrm>
            <a:off x="731520" y="4368960"/>
            <a:ext cx="456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1b1b2f"/>
                </a:solidFill>
                <a:latin typeface="Calibri"/>
              </a:rPr>
              <a:t>4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2" name="TextBox 17"/>
          <p:cNvSpPr/>
          <p:nvPr/>
        </p:nvSpPr>
        <p:spPr>
          <a:xfrm>
            <a:off x="1371600" y="4343400"/>
            <a:ext cx="41144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1dd1a1"/>
                </a:solidFill>
                <a:latin typeface="Calibri"/>
              </a:rPr>
              <a:t>Normal LDI Distributions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3" name="TextBox 18"/>
          <p:cNvSpPr/>
          <p:nvPr/>
        </p:nvSpPr>
        <p:spPr>
          <a:xfrm>
            <a:off x="1371600" y="4663440"/>
            <a:ext cx="457164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ccccdd"/>
                </a:solidFill>
                <a:latin typeface="Calibri"/>
              </a:rPr>
              <a:t>Shapiro-Wilk all p&gt;.42</a:t>
            </a:r>
            <a:br>
              <a:rPr sz="1100"/>
            </a:br>
            <a:r>
              <a:rPr b="0" lang="en-US" sz="1100" spc="-1" strike="noStrike">
                <a:solidFill>
                  <a:srgbClr val="ccccdd"/>
                </a:solidFill>
                <a:latin typeface="Calibri"/>
              </a:rPr>
              <a:t>Parametric analyses justified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4" name="Rounded Rectangle 19"/>
          <p:cNvSpPr/>
          <p:nvPr/>
        </p:nvSpPr>
        <p:spPr>
          <a:xfrm>
            <a:off x="731520" y="5303520"/>
            <a:ext cx="456840" cy="411120"/>
          </a:xfrm>
          <a:prstGeom prst="roundRect">
            <a:avLst>
              <a:gd name="adj" fmla="val 20000"/>
            </a:avLst>
          </a:prstGeom>
          <a:solidFill>
            <a:srgbClr val="ff6b6b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5" name="TextBox 20"/>
          <p:cNvSpPr/>
          <p:nvPr/>
        </p:nvSpPr>
        <p:spPr>
          <a:xfrm>
            <a:off x="731520" y="5329080"/>
            <a:ext cx="456840" cy="36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1800" spc="-1" strike="noStrike">
                <a:solidFill>
                  <a:srgbClr val="1b1b2f"/>
                </a:solidFill>
                <a:latin typeface="Calibri"/>
              </a:rPr>
              <a:t>5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6" name="TextBox 21"/>
          <p:cNvSpPr/>
          <p:nvPr/>
        </p:nvSpPr>
        <p:spPr>
          <a:xfrm>
            <a:off x="1371600" y="5303520"/>
            <a:ext cx="411444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1600" spc="-1" strike="noStrike">
                <a:solidFill>
                  <a:srgbClr val="ff6b6b"/>
                </a:solidFill>
                <a:latin typeface="Calibri"/>
              </a:rPr>
              <a:t>Positively Skewed RTs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7" name="TextBox 22"/>
          <p:cNvSpPr/>
          <p:nvPr/>
        </p:nvSpPr>
        <p:spPr>
          <a:xfrm>
            <a:off x="1371600" y="5623560"/>
            <a:ext cx="4571640" cy="425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0" lang="en-US" sz="1100" spc="-1" strike="noStrike">
                <a:solidFill>
                  <a:srgbClr val="ccccdd"/>
                </a:solidFill>
                <a:latin typeface="Calibri"/>
              </a:rPr>
              <a:t>Lures elicit longest RTs</a:t>
            </a:r>
            <a:br>
              <a:rPr sz="1100"/>
            </a:br>
            <a:r>
              <a:rPr b="0" lang="en-US" sz="1100" spc="-1" strike="noStrike">
                <a:solidFill>
                  <a:srgbClr val="ccccdd"/>
                </a:solidFill>
                <a:latin typeface="Calibri"/>
              </a:rPr>
              <a:t>Reflects greater decision uncertainty</a:t>
            </a:r>
            <a:endParaRPr b="0" lang="en-US" sz="11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88" name="Rounded Rectangle 23"/>
          <p:cNvSpPr/>
          <p:nvPr/>
        </p:nvSpPr>
        <p:spPr>
          <a:xfrm>
            <a:off x="6675120" y="1463040"/>
            <a:ext cx="4754520" cy="4845960"/>
          </a:xfrm>
          <a:prstGeom prst="roundRect">
            <a:avLst>
              <a:gd name="adj" fmla="val 5000"/>
            </a:avLst>
          </a:prstGeom>
          <a:solidFill>
            <a:srgbClr val="24243e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89" name="TextBox 24"/>
          <p:cNvSpPr/>
          <p:nvPr/>
        </p:nvSpPr>
        <p:spPr>
          <a:xfrm>
            <a:off x="7040880" y="1645920"/>
            <a:ext cx="5074920" cy="395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2000" spc="-1" strike="noStrike">
                <a:solidFill>
                  <a:srgbClr val="ffd93d"/>
                </a:solidFill>
                <a:latin typeface="Calibri"/>
              </a:rPr>
              <a:t>Limitations &amp; Future Directions</a:t>
            </a:r>
            <a:endParaRPr b="0" lang="en-US" sz="20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0" name="Rectangle 25"/>
          <p:cNvSpPr/>
          <p:nvPr/>
        </p:nvSpPr>
        <p:spPr>
          <a:xfrm>
            <a:off x="7040880" y="2103120"/>
            <a:ext cx="1828440" cy="50400"/>
          </a:xfrm>
          <a:prstGeom prst="rect">
            <a:avLst/>
          </a:prstGeom>
          <a:solidFill>
            <a:srgbClr val="6c6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760" bIns="57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1" name="TextBox 26"/>
          <p:cNvSpPr/>
          <p:nvPr/>
        </p:nvSpPr>
        <p:spPr>
          <a:xfrm>
            <a:off x="7040880" y="2286000"/>
            <a:ext cx="4114440" cy="2437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20"/>
              </a:spcAft>
            </a:pPr>
            <a:r>
              <a:rPr b="1" lang="en-US" sz="1400" spc="-1" strike="noStrike">
                <a:solidFill>
                  <a:srgbClr val="ccccdd"/>
                </a:solidFill>
                <a:latin typeface="Calibri"/>
              </a:rPr>
              <a:t>Limitations: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20"/>
              </a:spcAft>
            </a:pPr>
            <a:r>
              <a:rPr b="0" lang="en-US" sz="1400" spc="-1" strike="noStrike">
                <a:solidFill>
                  <a:srgbClr val="ccccdd"/>
                </a:solidFill>
                <a:latin typeface="Calibri"/>
              </a:rPr>
              <a:t>  • </a:t>
            </a:r>
            <a:r>
              <a:rPr b="0" lang="en-US" sz="1400" spc="-1" strike="noStrike">
                <a:solidFill>
                  <a:srgbClr val="ccccdd"/>
                </a:solidFill>
                <a:latin typeface="Calibri"/>
              </a:rPr>
              <a:t>Descriptive statistics only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20"/>
              </a:spcAft>
            </a:pPr>
            <a:r>
              <a:rPr b="0" lang="en-US" sz="1400" spc="-1" strike="noStrike">
                <a:solidFill>
                  <a:srgbClr val="ccccdd"/>
                </a:solidFill>
                <a:latin typeface="Calibri"/>
              </a:rPr>
              <a:t>  • </a:t>
            </a:r>
            <a:r>
              <a:rPr b="0" lang="en-US" sz="1400" spc="-1" strike="noStrike">
                <a:solidFill>
                  <a:srgbClr val="ccccdd"/>
                </a:solidFill>
                <a:latin typeface="Calibri"/>
              </a:rPr>
              <a:t>No outlier exclusion applied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20"/>
              </a:spcAf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20"/>
              </a:spcAft>
            </a:pPr>
            <a:r>
              <a:rPr b="1" lang="en-US" sz="1400" spc="-1" strike="noStrike">
                <a:solidFill>
                  <a:srgbClr val="ccccdd"/>
                </a:solidFill>
                <a:latin typeface="Calibri"/>
              </a:rPr>
              <a:t>Future Directions (Report 2):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20"/>
              </a:spcAft>
            </a:pPr>
            <a:r>
              <a:rPr b="0" lang="en-US" sz="1400" spc="-1" strike="noStrike">
                <a:solidFill>
                  <a:srgbClr val="ccccdd"/>
                </a:solidFill>
                <a:latin typeface="Calibri"/>
              </a:rPr>
              <a:t>  • </a:t>
            </a:r>
            <a:r>
              <a:rPr b="0" lang="en-US" sz="1400" spc="-1" strike="noStrike">
                <a:solidFill>
                  <a:srgbClr val="ccccdd"/>
                </a:solidFill>
                <a:latin typeface="Calibri"/>
              </a:rPr>
              <a:t>Between-group ANOVA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20"/>
              </a:spcAft>
            </a:pPr>
            <a:r>
              <a:rPr b="0" lang="en-US" sz="1400" spc="-1" strike="noStrike">
                <a:solidFill>
                  <a:srgbClr val="ccccdd"/>
                </a:solidFill>
                <a:latin typeface="Calibri"/>
              </a:rPr>
              <a:t>  • </a:t>
            </a:r>
            <a:r>
              <a:rPr b="0" lang="en-US" sz="1400" spc="-1" strike="noStrike">
                <a:solidFill>
                  <a:srgbClr val="ccccdd"/>
                </a:solidFill>
                <a:latin typeface="Calibri"/>
              </a:rPr>
              <a:t>Mixed-effects models (condition × bin)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20"/>
              </a:spcAft>
            </a:pPr>
            <a:r>
              <a:rPr b="0" lang="en-US" sz="1400" spc="-1" strike="noStrike">
                <a:solidFill>
                  <a:srgbClr val="ccccdd"/>
                </a:solidFill>
                <a:latin typeface="Calibri"/>
              </a:rPr>
              <a:t>  • </a:t>
            </a:r>
            <a:r>
              <a:rPr b="0" lang="en-US" sz="1400" spc="-1" strike="noStrike">
                <a:solidFill>
                  <a:srgbClr val="ccccdd"/>
                </a:solidFill>
                <a:latin typeface="Calibri"/>
              </a:rPr>
              <a:t>Signal detection (d', criterion c)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20"/>
              </a:spcAft>
            </a:pPr>
            <a:r>
              <a:rPr b="0" lang="en-US" sz="1400" spc="-1" strike="noStrike">
                <a:solidFill>
                  <a:srgbClr val="ccccdd"/>
                </a:solidFill>
                <a:latin typeface="Calibri"/>
              </a:rPr>
              <a:t>  • </a:t>
            </a:r>
            <a:r>
              <a:rPr b="0" lang="en-US" sz="1400" spc="-1" strike="noStrike">
                <a:solidFill>
                  <a:srgbClr val="ccccdd"/>
                </a:solidFill>
                <a:latin typeface="Calibri"/>
              </a:rPr>
              <a:t>Encoding–recognition correlations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TextBox 1"/>
          <p:cNvSpPr/>
          <p:nvPr/>
        </p:nvSpPr>
        <p:spPr>
          <a:xfrm>
            <a:off x="731520" y="457200"/>
            <a:ext cx="4571640" cy="63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</a:pPr>
            <a:r>
              <a:rPr b="1" lang="en-US" sz="3600" spc="-1" strike="noStrike">
                <a:solidFill>
                  <a:srgbClr val="ffffff"/>
                </a:solidFill>
                <a:latin typeface="Calibri"/>
              </a:rPr>
              <a:t>References</a:t>
            </a:r>
            <a:endParaRPr b="0" lang="en-US" sz="3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3" name="Rectangle 2"/>
          <p:cNvSpPr/>
          <p:nvPr/>
        </p:nvSpPr>
        <p:spPr>
          <a:xfrm>
            <a:off x="731520" y="1097280"/>
            <a:ext cx="1828440" cy="50400"/>
          </a:xfrm>
          <a:prstGeom prst="rect">
            <a:avLst/>
          </a:prstGeom>
          <a:solidFill>
            <a:srgbClr val="6c6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760" bIns="57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4" name="TextBox 3"/>
          <p:cNvSpPr/>
          <p:nvPr/>
        </p:nvSpPr>
        <p:spPr>
          <a:xfrm>
            <a:off x="731520" y="1554480"/>
            <a:ext cx="10515240" cy="329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457200">
              <a:lnSpc>
                <a:spcPct val="100000"/>
              </a:lnSpc>
              <a:spcAft>
                <a:spcPts val="420"/>
              </a:spcAft>
            </a:pPr>
            <a:r>
              <a:rPr b="0" lang="en-US" sz="1400" spc="-1" strike="noStrike">
                <a:solidFill>
                  <a:srgbClr val="ccccdd"/>
                </a:solidFill>
                <a:latin typeface="Calibri"/>
              </a:rPr>
              <a:t>Bakker, A., Kirwan, C. B., Miller, M., &amp; Stark, C. E. L. (2008). Pattern separation in the human hippocampal CA3 and dentate gyrus. Science, 319(5870), 1640–1642.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20"/>
              </a:spcAf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20"/>
              </a:spcAft>
            </a:pPr>
            <a:r>
              <a:rPr b="0" lang="en-US" sz="1400" spc="-1" strike="noStrike">
                <a:solidFill>
                  <a:srgbClr val="ccccdd"/>
                </a:solidFill>
                <a:latin typeface="Calibri"/>
              </a:rPr>
              <a:t>Stark, S. M., Yassa, M. A., Lacy, J. W., &amp; Stark, C. E. L. (2013). A task to assess behavioral pattern separation (BPS) in humans. Neuropsychologia, 51(12), 2442–2449.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20"/>
              </a:spcAf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20"/>
              </a:spcAft>
            </a:pPr>
            <a:r>
              <a:rPr b="0" lang="en-US" sz="1400" spc="-1" strike="noStrike">
                <a:solidFill>
                  <a:srgbClr val="ccccdd"/>
                </a:solidFill>
                <a:latin typeface="Calibri"/>
              </a:rPr>
              <a:t>Yassa, M. A., &amp; Stark, C. E. L. (2011). Pattern separation in the hippocampus. Trends in Neurosciences, 34(10), 515–525.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20"/>
              </a:spcAf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20"/>
              </a:spcAft>
            </a:pPr>
            <a:r>
              <a:rPr b="0" lang="en-US" sz="1400" spc="-1" strike="noStrike">
                <a:solidFill>
                  <a:srgbClr val="ccccdd"/>
                </a:solidFill>
                <a:latin typeface="Calibri"/>
              </a:rPr>
              <a:t>Kirwan, C. B., &amp; Stark, C. E. L. (2007). Overcoming interference: An fMRI investigation of pattern separation in the medial temporal lobe. Learning &amp; Memory, 14(9), 625–633.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20"/>
              </a:spcAft>
            </a:pP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  <a:p>
            <a:pPr defTabSz="457200">
              <a:lnSpc>
                <a:spcPct val="100000"/>
              </a:lnSpc>
              <a:spcAft>
                <a:spcPts val="420"/>
              </a:spcAft>
            </a:pPr>
            <a:r>
              <a:rPr b="0" lang="en-US" sz="1400" spc="-1" strike="noStrike">
                <a:solidFill>
                  <a:srgbClr val="ccccdd"/>
                </a:solidFill>
                <a:latin typeface="Calibri"/>
              </a:rPr>
              <a:t>Lacy, J. W., Yassa, M. A., Stark, S. M., Muftuler, L. T., &amp; Stark, C. E. L. (2011). Distinct pattern separation related transfer functions in human CA3/DG and CA1. Learning &amp; Memory, 18(1), 15–18.</a:t>
            </a:r>
            <a:endParaRPr b="0" lang="en-US" sz="1400" spc="-1" strike="noStrike">
              <a:solidFill>
                <a:srgbClr val="ffffff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b1b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Rectangle 1"/>
          <p:cNvSpPr/>
          <p:nvPr/>
        </p:nvSpPr>
        <p:spPr>
          <a:xfrm>
            <a:off x="0" y="0"/>
            <a:ext cx="12191400" cy="54360"/>
          </a:xfrm>
          <a:prstGeom prst="rect">
            <a:avLst/>
          </a:prstGeom>
          <a:solidFill>
            <a:srgbClr val="6c6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6" name="TextBox 2"/>
          <p:cNvSpPr/>
          <p:nvPr/>
        </p:nvSpPr>
        <p:spPr>
          <a:xfrm>
            <a:off x="1371600" y="1097280"/>
            <a:ext cx="9417960" cy="424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2200" spc="-1" strike="noStrike">
                <a:solidFill>
                  <a:srgbClr val="00d2d3"/>
                </a:solidFill>
                <a:latin typeface="Calibri"/>
              </a:rPr>
              <a:t>Team Data Navigators</a:t>
            </a:r>
            <a:endParaRPr b="0" lang="en-US" sz="22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7" name="TextBox 3"/>
          <p:cNvSpPr/>
          <p:nvPr/>
        </p:nvSpPr>
        <p:spPr>
          <a:xfrm>
            <a:off x="1371600" y="1828800"/>
            <a:ext cx="9417960" cy="91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1" lang="en-US" sz="5400" spc="-1" strike="noStrike">
                <a:solidFill>
                  <a:srgbClr val="ffffff"/>
                </a:solidFill>
                <a:latin typeface="Calibri"/>
              </a:rPr>
              <a:t>Thank You!</a:t>
            </a:r>
            <a:endParaRPr b="0" lang="en-US" sz="54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298" name="Rectangle 4"/>
          <p:cNvSpPr/>
          <p:nvPr/>
        </p:nvSpPr>
        <p:spPr>
          <a:xfrm>
            <a:off x="4572000" y="3200400"/>
            <a:ext cx="3017160" cy="50400"/>
          </a:xfrm>
          <a:prstGeom prst="rect">
            <a:avLst/>
          </a:prstGeom>
          <a:solidFill>
            <a:srgbClr val="6c6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5760" bIns="576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  <p:sp>
        <p:nvSpPr>
          <p:cNvPr id="299" name="TextBox 5"/>
          <p:cNvSpPr/>
          <p:nvPr/>
        </p:nvSpPr>
        <p:spPr>
          <a:xfrm>
            <a:off x="1371600" y="3657600"/>
            <a:ext cx="9417960" cy="516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2800" spc="-1" strike="noStrike">
                <a:solidFill>
                  <a:srgbClr val="a79bff"/>
                </a:solidFill>
                <a:latin typeface="Calibri"/>
              </a:rPr>
              <a:t>Questions &amp; Discussion</a:t>
            </a:r>
            <a:endParaRPr b="0" lang="en-US" sz="2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0" name="TextBox 6"/>
          <p:cNvSpPr/>
          <p:nvPr/>
        </p:nvSpPr>
        <p:spPr>
          <a:xfrm>
            <a:off x="2743200" y="4572000"/>
            <a:ext cx="6674760" cy="105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  <a:spcAft>
                <a:spcPts val="541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</a:rPr>
              <a:t>Sourav Nath  (Roll: 2025201054)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541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</a:rPr>
              <a:t>Piyush Kumar Agarwal  (Roll: 2025201082)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  <a:p>
            <a:pPr algn="ctr" defTabSz="457200">
              <a:lnSpc>
                <a:spcPct val="100000"/>
              </a:lnSpc>
              <a:spcAft>
                <a:spcPts val="541"/>
              </a:spcAft>
            </a:pPr>
            <a:r>
              <a:rPr b="0" lang="en-US" sz="1800" spc="-1" strike="noStrike">
                <a:solidFill>
                  <a:srgbClr val="ccccdd"/>
                </a:solidFill>
                <a:latin typeface="Calibri"/>
              </a:rPr>
              <a:t>Rajarshi Chatterjee  (Roll: 2025814004)</a:t>
            </a:r>
            <a:endParaRPr b="0" lang="en-US" sz="18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1" name="TextBox 7"/>
          <p:cNvSpPr/>
          <p:nvPr/>
        </p:nvSpPr>
        <p:spPr>
          <a:xfrm>
            <a:off x="2743200" y="5943600"/>
            <a:ext cx="6674760" cy="333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 defTabSz="457200">
              <a:lnSpc>
                <a:spcPct val="100000"/>
              </a:lnSpc>
            </a:pPr>
            <a:r>
              <a:rPr b="0" lang="en-US" sz="1600" spc="-1" strike="noStrike">
                <a:solidFill>
                  <a:srgbClr val="9999bb"/>
                </a:solidFill>
                <a:latin typeface="Calibri"/>
              </a:rPr>
              <a:t>BRSM 2026</a:t>
            </a:r>
            <a:endParaRPr b="0" lang="en-US" sz="1600" spc="-1" strike="noStrike">
              <a:solidFill>
                <a:srgbClr val="ffffff"/>
              </a:solidFill>
              <a:latin typeface="Arial"/>
            </a:endParaRPr>
          </a:p>
        </p:txBody>
      </p:sp>
      <p:sp>
        <p:nvSpPr>
          <p:cNvPr id="302" name="Rectangle 8"/>
          <p:cNvSpPr/>
          <p:nvPr/>
        </p:nvSpPr>
        <p:spPr>
          <a:xfrm>
            <a:off x="0" y="6803280"/>
            <a:ext cx="12191400" cy="54360"/>
          </a:xfrm>
          <a:prstGeom prst="rect">
            <a:avLst/>
          </a:prstGeom>
          <a:solidFill>
            <a:srgbClr val="6c63ff"/>
          </a:solidFill>
          <a:ln>
            <a:noFill/>
          </a:ln>
          <a:effectLst>
            <a:outerShdw blurRad="39960" dir="5400000" dist="23040" rotWithShape="0">
              <a:srgbClr val="000000">
                <a:alpha val="3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/>
        </p:style>
        <p:txBody>
          <a:bodyPr lIns="90000" rIns="90000" tIns="9720" bIns="9720" anchor="ctr">
            <a:noAutofit/>
          </a:bodyPr>
          <a:p>
            <a:pPr algn="ctr" defTabSz="457200">
              <a:lnSpc>
                <a:spcPct val="100000"/>
              </a:lnSpc>
            </a:pPr>
            <a:endParaRPr b="0" lang="en-US" sz="1800" spc="-1" strike="noStrike">
              <a:solidFill>
                <a:schemeClr val="lt1"/>
              </a:solidFill>
              <a:latin typeface="Calibri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7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8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9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0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262</TotalTime>
  <Application>LibreOffice/24.2.7.2$Linux_X86_64 LibreOffice_project/420$Build-2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/>
  <dc:description>generated using python-pptx</dc:description>
  <dc:language>en-US</dc:language>
  <cp:lastModifiedBy/>
  <dcterms:modified xsi:type="dcterms:W3CDTF">2026-03-05T15:38:40Z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